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9"/>
  </p:notesMasterIdLst>
  <p:handoutMasterIdLst>
    <p:handoutMasterId r:id="rId10"/>
  </p:handoutMasterIdLst>
  <p:sldIdLst>
    <p:sldId id="3009" r:id="rId2"/>
    <p:sldId id="3010" r:id="rId3"/>
    <p:sldId id="3016" r:id="rId7"/>
    <p:sldId id="3017" r:id="rId6"/>
    <p:sldId id="3018" r:id="rId5"/>
    <p:sldId id="3019" r:id="rId4"/>
    <p:sldId id="3020" r:id="rId15"/>
    <p:sldId id="3021" r:id="rId16"/>
    <p:sldId id="3022" r:id="rId17"/>
    <p:sldId id="3023" r:id="rId18"/>
    <p:sldId id="3024" r:id="rId19"/>
    <p:sldId id="3025" r:id="rId20"/>
    <p:sldId id="3026" r:id="rId21"/>
    <p:sldId id="3027" r:id="rId22"/>
    <p:sldId id="3028" r:id="rId23"/>
    <p:sldId id="3029" r:id="rId24"/>
    <p:sldId id="3030" r:id="rId25"/>
    <p:sldId id="3031" r:id="rId26"/>
    <p:sldId id="3032" r:id="rId27"/>
    <p:sldId id="3033" r:id="rId28"/>
    <p:sldId id="3015" r:id="rId8"/>
  </p:sldIdLst>
  <p:sldSz cx="12192000" cy="6858000"/>
  <p:notesSz cx="9875838" cy="67421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2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8" y="5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86490"/>
    </p:cViewPr>
  </p:sorterViewPr>
  <p:notesViewPr>
    <p:cSldViewPr snapToGrid="0">
      <p:cViewPr varScale="1">
        <p:scale>
          <a:sx n="132" d="100"/>
          <a:sy n="132" d="100"/>
        </p:scale>
        <p:origin x="561" y="5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41F8D07-C816-4EA5-8632-09EE2BAB9B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4388D0-BCFD-FA83-A869-2D45C26056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594024" y="0"/>
            <a:ext cx="4279529" cy="3382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FAECC-ED9A-4243-A8FB-ECBE51B74931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19F4BB-B8AD-651D-12BE-20AF3E03CA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408A61-9A6D-8BA0-8ABB-25C2C38585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594024" y="6403838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907A6-A91B-4253-A7BB-5098ED30E0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0288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6309" y="59833"/>
            <a:ext cx="4279529" cy="338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EDA1A-B315-453A-B1F2-119699FE817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슬라이드 이미지 개체 틀 7">
            <a:extLst>
              <a:ext uri="{FF2B5EF4-FFF2-40B4-BE49-F238E27FC236}">
                <a16:creationId xmlns:a16="http://schemas.microsoft.com/office/drawing/2014/main" id="{8119D33A-15A7-5300-5D81-BB27F30EFE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42963"/>
            <a:ext cx="4043362" cy="2274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8687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16238" y="842963"/>
            <a:ext cx="4043362" cy="2274887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87585" y="3244642"/>
            <a:ext cx="7900670" cy="2654707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503744" y="7556619"/>
            <a:ext cx="4210466" cy="397790"/>
          </a:xfrm>
          <a:prstGeom prst="rect">
            <a:avLst/>
          </a:prstGeom>
        </p:spPr>
        <p:txBody>
          <a:bodyPr/>
          <a:lstStyle/>
          <a:p>
            <a:fld id="{96188ACF-FB21-4870-9A37-E58C25E3BF2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1611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오늘은 결정이 필요한 사항부터 말씀드리고, 그 근거가 되는 문제와 해결 체계, 그리고 누가 언제 무엇을 하는지 순서로 설명드리겠습니다.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결론부터 말씀드립니다. 오늘 결정해 주셔야 할 것은 인력, 파일럿 고객, 외부 계약 범위입니다. 특히 시뮬레이터 전담 2명과 핵심 개발자 시간이 확보되지 않으면 나머지는 의미가 없습니다.</a:t>
            </a:r>
          </a:p>
          <a:p>
            <a:r>
              <a:t>[다음] 왜 이 결정이 필요한지, 현재의 문제부터 보겠습니다.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업그레이드 요청의 70%는 검사 기능 변경이고, 이것이 호스트 연동 변경 30%를 끌고 옵니다. 문제는 맞는지 확인할 곳이 고객 팹 클린룸뿐이라는 점입니다.</a:t>
            </a:r>
          </a:p>
          <a:p>
            <a:r>
              <a:t>[다음] 그래서 검증을 사무실로 옮기는 체계를 제안합니다.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고객 요청은 소스가 아니라 PRD로 들어갑니다. AI는 바뀐 만큼만 코드를 만들고, 가상 팹 시뮬레이터가 골든 이미지와 GEM 시나리오로 합격을 판정합니다. 불합격이면 AI가 다시 만듭니다.</a:t>
            </a:r>
          </a:p>
          <a:p>
            <a:r>
              <a:t>[다음] 여기서 자주 헷갈리는 플랫폼과 시뮬레이터를 구분하겠습니다.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비행기와 비행 시뮬레이터의 관계입니다. 고객사에 설치되고 업그레이드되는 것은 플랫폼 하나이고, 시뮬레이터는 출고 전 검사소입니다.</a:t>
            </a:r>
          </a:p>
          <a:p>
            <a:r>
              <a:t>[다음] 그렇다면 AI는 플랫폼의 어디까지 고치는가를 보겠습니다.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자주 바뀌는 것은 고객 공정과 제품의 사정으로 움직이고, 거의 바뀌지 않는 것은 물리 법칙과 기구, 표준에 묶여 있습니다. AI가 안정성을 해치지 않느냐는 우려에 대한 답이 이 표입니다.</a:t>
            </a:r>
          </a:p>
          <a:p>
            <a:r>
              <a:t>[다음] 이 일을 누가 맡는지의 원칙입니다.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역생성 PRD는 100% 정확할 수 없습니다. 그래서 요구사항마다 근거와 신뢰도를 붙이고, 시뮬레이터로 기록한 현재 동작과 맞는 것만 확정합니다. 증분은 추적표로 범위를 묶고, 새 합격 기준과 기존 회귀 시험을 모두 통과해야 정확하다고 봅니다.</a:t>
            </a:r>
          </a:p>
          <a:p>
            <a:r>
              <a:t>[다음] 이것을 의견이 아니라 데이터로 확인하는 방법입니다.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과거 버전 이력에서 업그레이드 이전 소스와 PRD 변경분만 AI에 주고, 실제 사람이 한 수정과 비교합니다. 설정·GEM 유형이 범위 밖 수정과 회귀 없이 재현되면 확산하고, 알고리즘 유형은 사람 주도로 둡니다. 판정 기준 수치는 시험 전에 TF와 정합니다.</a:t>
            </a:r>
          </a:p>
          <a:p>
            <a:r>
              <a:t>[다음] 이 일을 누가 맡는지의 원칙입니다.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외부 인력은 도구를 만들고, 방법을 가르치고, 코칭하는 데까지만 맡습니다. 시뮬레이터와 판정 기준은 인텍플러스가 앞으로 계속 쌓을 기술 자산이기 때문입니다.</a:t>
            </a:r>
          </a:p>
          <a:p>
            <a:r>
              <a:t>[다음] 여섯 주체의 역할입니다.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주체는 여섯입니다. 내부 TF가 핵심 자산을 소유하고, 외부 셋은 도구와 방법, PM은 통합과 규격, 경영진은 인력과 고객 협의를 맡습니다.</a:t>
            </a:r>
          </a:p>
          <a:p>
            <a:r>
              <a:t>[다음] 내부 TF의 구성입니다.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TF는 8명입니다. 시뮬레이터 전담 2명은 100% 투입이 필요하고, 핵심 개발자는 코드를 쓰는 사람에서 PRD를 확정하고 결과를 승인하는 사람으로 바뀝니다.</a:t>
            </a:r>
          </a:p>
          <a:p>
            <a:r>
              <a:t>[다음] 업무별 책임 분장입니다.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제안서 본문에는 18개 업무 전체의 분장이 있습니다. 여기서는 핵심 10개만 보여 드립니다.</a:t>
            </a:r>
          </a:p>
          <a:p>
            <a:r>
              <a:t>[다음] 12개월 일정입니다.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3개월 차 G1에서 골든 이미지 회귀와 bkit v1, 브레인크루 PoC 결과를 봅니다. 6개월 차 G2에서 실제 업그레이드 결과로 확산을 결정하고, 12개월 차에 내부로 운영을 넘깁니다.</a:t>
            </a:r>
          </a:p>
          <a:p>
            <a:r>
              <a:t>색 대응: 인텍 TF 파랑, bkit 청록, 브레인크루 보라, AI 컨설턴트 네이비, PM 회청색.</a:t>
            </a:r>
          </a:p>
          <a:p>
            <a:r>
              <a:t>[다음] 투입 공수입니다.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인텍 내부 48~57, 외부와 PM을 합쳐 66~86 MM입니다. 브레인크루 공수는 PoC 이후 구축과 망분리 설치가 모두 진행될 때의 범위입니다.</a:t>
            </a:r>
          </a:p>
          <a:p>
            <a:r>
              <a:t>[다음] 내부 엔지니어의 AI 역량 전환입니다.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외부 주체가 떠난 뒤에도 돌아가야 합니다. 그래서 교육은 강의가 아니라 실제 개발과 운영에 붙여 진행합니다.</a:t>
            </a:r>
          </a:p>
          <a:p>
            <a:r>
              <a:t>[다음] 단계별 게이트입니다.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측정 지표는 현장 체류 시간, 재방문율, 현장 발견 결함, 리드타임, 핵심 개발자 투입 시간, AI 증분의 1회 합격률입니다.</a:t>
            </a:r>
          </a:p>
          <a:p>
            <a:r>
              <a:t>[다음] 주요 리스크입니다.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이 밖에 도구 간 충돌, 외부 의존 고착, 망분리 고객 제약이 있으며 제안서 본문에 대응을 정리했습니다.</a:t>
            </a:r>
          </a:p>
          <a:p>
            <a:r>
              <a:t>[다음] 승인 후 첫 4주입니다.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Slide Image Placeholder 2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처음 말씀드린 세 가지 결정으로 돌아갑니다. 승인해 주시면 4주 안에 착수 조건을 판정하고 바로 시작할 수 있습니다.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316EF-50A9-4678-9393-F382547C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2907"/>
            <a:ext cx="10515600" cy="714739"/>
          </a:xfrm>
        </p:spPr>
        <p:txBody>
          <a:bodyPr/>
          <a:lstStyle/>
          <a:p>
            <a:r>
              <a:rPr lang="ko-KR" altLang="en-US">
                <a:latin typeface="Pretendard"/>
                <a:ea typeface="Pretendard"/>
              </a:rP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63D61E-D2B4-42E8-925E-FF7563176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553"/>
            <a:ext cx="5157787" cy="519521"/>
          </a:xfrm>
        </p:spPr>
        <p:txBody>
          <a:bodyPr anchor="ctr">
            <a:normAutofit/>
          </a:bodyPr>
          <a:lstStyle>
            <a:lvl1pPr marL="0" indent="0">
              <a:buNone/>
              <a:defRPr sz="1600" b="1">
                <a:latin typeface="Pretendard"/>
                <a:ea typeface="Pretendard"/>
              </a:defRPr>
            </a:lvl1pPr>
            <a:lvl2pPr marL="457200" indent="0">
              <a:buNone/>
              <a:defRPr sz="2000" b="1">
                <a:latin typeface="Pretendard"/>
                <a:ea typeface="Pretendard"/>
              </a:defRPr>
            </a:lvl2pPr>
            <a:lvl3pPr marL="914400" indent="0">
              <a:buNone/>
              <a:defRPr sz="1800" b="1">
                <a:latin typeface="Pretendard"/>
                <a:ea typeface="Pretendard"/>
              </a:defRPr>
            </a:lvl3pPr>
            <a:lvl4pPr marL="1371600" indent="0">
              <a:buNone/>
              <a:defRPr sz="1600" b="1">
                <a:latin typeface="Pretendard"/>
                <a:ea typeface="Pretendard"/>
              </a:defRPr>
            </a:lvl4pPr>
            <a:lvl5pPr marL="1828800" indent="0">
              <a:buNone/>
              <a:defRPr sz="1600" b="1">
                <a:latin typeface="Pretendard"/>
                <a:ea typeface="Pretendard"/>
              </a:defRPr>
            </a:lvl5pPr>
            <a:lvl6pPr marL="2286000" indent="0">
              <a:buNone/>
              <a:defRPr sz="1600" b="1">
                <a:latin typeface="Pretendard"/>
                <a:ea typeface="Pretendard"/>
              </a:defRPr>
            </a:lvl6pPr>
            <a:lvl7pPr marL="2743200" indent="0">
              <a:buNone/>
              <a:defRPr sz="1600" b="1">
                <a:latin typeface="Pretendard"/>
                <a:ea typeface="Pretendard"/>
              </a:defRPr>
            </a:lvl7pPr>
            <a:lvl8pPr marL="3200400" indent="0">
              <a:buNone/>
              <a:defRPr sz="1600" b="1">
                <a:latin typeface="Pretendard"/>
                <a:ea typeface="Pretendard"/>
              </a:defRPr>
            </a:lvl8pPr>
            <a:lvl9pPr marL="3657600" indent="0">
              <a:buNone/>
              <a:defRPr sz="1600" b="1">
                <a:latin typeface="Pretendard"/>
                <a:ea typeface="Pretendard"/>
              </a:defRPr>
            </a:lvl9pPr>
          </a:lstStyle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8E9BA4-FB39-4602-80C6-1C3C02873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  <a:p>
            <a:pPr lvl="1"/>
            <a:r>
              <a:rPr lang="ko-KR" altLang="en-US">
                <a:latin typeface="Pretendard"/>
                <a:ea typeface="Pretendard"/>
              </a:rPr>
              <a:t>두 번째 수준</a:t>
            </a:r>
          </a:p>
          <a:p>
            <a:pPr lvl="2"/>
            <a:r>
              <a:rPr lang="ko-KR" altLang="en-US">
                <a:latin typeface="Pretendard"/>
                <a:ea typeface="Pretendard"/>
              </a:rPr>
              <a:t>세 번째 수준</a:t>
            </a:r>
          </a:p>
          <a:p>
            <a:pPr lvl="3"/>
            <a:r>
              <a:rPr lang="ko-KR" altLang="en-US">
                <a:latin typeface="Pretendard"/>
                <a:ea typeface="Pretendard"/>
              </a:rPr>
              <a:t>네 번째 수준</a:t>
            </a:r>
          </a:p>
          <a:p>
            <a:pPr lvl="4"/>
            <a:r>
              <a:rPr lang="ko-KR" altLang="en-US">
                <a:latin typeface="Pretendard"/>
                <a:ea typeface="Pretendard"/>
              </a:rPr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3C81B2-EDAB-4DDE-84E0-AFF852EF5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553"/>
            <a:ext cx="5183188" cy="519522"/>
          </a:xfrm>
        </p:spPr>
        <p:txBody>
          <a:bodyPr anchor="ctr">
            <a:normAutofit/>
          </a:bodyPr>
          <a:lstStyle>
            <a:lvl1pPr marL="0" indent="0">
              <a:buNone/>
              <a:defRPr sz="1600" b="1">
                <a:latin typeface="Pretendard"/>
                <a:ea typeface="Pretendard"/>
              </a:defRPr>
            </a:lvl1pPr>
            <a:lvl2pPr marL="457200" indent="0">
              <a:buNone/>
              <a:defRPr sz="2000" b="1">
                <a:latin typeface="Pretendard"/>
                <a:ea typeface="Pretendard"/>
              </a:defRPr>
            </a:lvl2pPr>
            <a:lvl3pPr marL="914400" indent="0">
              <a:buNone/>
              <a:defRPr sz="1800" b="1">
                <a:latin typeface="Pretendard"/>
                <a:ea typeface="Pretendard"/>
              </a:defRPr>
            </a:lvl3pPr>
            <a:lvl4pPr marL="1371600" indent="0">
              <a:buNone/>
              <a:defRPr sz="1600" b="1">
                <a:latin typeface="Pretendard"/>
                <a:ea typeface="Pretendard"/>
              </a:defRPr>
            </a:lvl4pPr>
            <a:lvl5pPr marL="1828800" indent="0">
              <a:buNone/>
              <a:defRPr sz="1600" b="1">
                <a:latin typeface="Pretendard"/>
                <a:ea typeface="Pretendard"/>
              </a:defRPr>
            </a:lvl5pPr>
            <a:lvl6pPr marL="2286000" indent="0">
              <a:buNone/>
              <a:defRPr sz="1600" b="1">
                <a:latin typeface="Pretendard"/>
                <a:ea typeface="Pretendard"/>
              </a:defRPr>
            </a:lvl6pPr>
            <a:lvl7pPr marL="2743200" indent="0">
              <a:buNone/>
              <a:defRPr sz="1600" b="1">
                <a:latin typeface="Pretendard"/>
                <a:ea typeface="Pretendard"/>
              </a:defRPr>
            </a:lvl7pPr>
            <a:lvl8pPr marL="3200400" indent="0">
              <a:buNone/>
              <a:defRPr sz="1600" b="1">
                <a:latin typeface="Pretendard"/>
                <a:ea typeface="Pretendard"/>
              </a:defRPr>
            </a:lvl8pPr>
            <a:lvl9pPr marL="3657600" indent="0">
              <a:buNone/>
              <a:defRPr sz="1600" b="1">
                <a:latin typeface="Pretendard"/>
                <a:ea typeface="Pretendard"/>
              </a:defRPr>
            </a:lvl9pPr>
          </a:lstStyle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32B60E-A6EF-4E1E-BE20-4E34BE33C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  <a:p>
            <a:pPr lvl="1"/>
            <a:r>
              <a:rPr lang="ko-KR" altLang="en-US">
                <a:latin typeface="Pretendard"/>
                <a:ea typeface="Pretendard"/>
              </a:rPr>
              <a:t>두 번째 수준</a:t>
            </a:r>
          </a:p>
          <a:p>
            <a:pPr lvl="2"/>
            <a:r>
              <a:rPr lang="ko-KR" altLang="en-US">
                <a:latin typeface="Pretendard"/>
                <a:ea typeface="Pretendard"/>
              </a:rPr>
              <a:t>세 번째 수준</a:t>
            </a:r>
          </a:p>
          <a:p>
            <a:pPr lvl="3"/>
            <a:r>
              <a:rPr lang="ko-KR" altLang="en-US">
                <a:latin typeface="Pretendard"/>
                <a:ea typeface="Pretendard"/>
              </a:rPr>
              <a:t>네 번째 수준</a:t>
            </a:r>
          </a:p>
          <a:p>
            <a:pPr lvl="4"/>
            <a:r>
              <a:rPr lang="ko-KR" altLang="en-US">
                <a:latin typeface="Pretendard"/>
                <a:ea typeface="Pretendard"/>
              </a:rPr>
              <a:t>다섯 번째 수준</a:t>
            </a:r>
          </a:p>
        </p:txBody>
      </p:sp>
      <p:sp>
        <p:nvSpPr>
          <p:cNvPr id="10" name="슬라이드 번호 개체 틀 6">
            <a:extLst>
              <a:ext uri="{FF2B5EF4-FFF2-40B4-BE49-F238E27FC236}">
                <a16:creationId xmlns:a16="http://schemas.microsoft.com/office/drawing/2014/main" id="{7750FC9F-7912-E351-2A0E-64CE29C3A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‹#›</a:t>
            </a:fld>
            <a:endParaRPr lang="ko-KR" altLang="en-US" sz="8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3842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7BC4FF2-B026-3861-C52C-B0C3C9B7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2907"/>
            <a:ext cx="10515600" cy="714739"/>
          </a:xfrm>
        </p:spPr>
        <p:txBody>
          <a:bodyPr/>
          <a:lstStyle/>
          <a:p>
            <a:r>
              <a:rPr lang="ko-KR" altLang="en-US">
                <a:latin typeface="Pretendard"/>
                <a:ea typeface="Pretendard"/>
              </a:rPr>
              <a:t>마스터 제목 스타일 편집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1A20C-4CB5-9B6A-21DD-838B5058D1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‹#›</a:t>
            </a:fld>
            <a:endParaRPr lang="ko-KR" altLang="en-US" sz="8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582820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 noChangeAspect="1"/>
          </p:cNvGrpSpPr>
          <p:nvPr userDrawn="1"/>
        </p:nvGrpSpPr>
        <p:grpSpPr bwMode="auto">
          <a:xfrm>
            <a:off x="1325490" y="305467"/>
            <a:ext cx="1816447" cy="305001"/>
            <a:chOff x="5137" y="4139"/>
            <a:chExt cx="335" cy="75"/>
          </a:xfrm>
          <a:solidFill>
            <a:schemeClr val="bg1"/>
          </a:solidFill>
        </p:grpSpPr>
        <p:sp>
          <p:nvSpPr>
            <p:cNvPr id="8" name="Freeform 5"/>
            <p:cNvSpPr>
              <a:spLocks noEditPoints="1"/>
            </p:cNvSpPr>
            <p:nvPr userDrawn="1"/>
          </p:nvSpPr>
          <p:spPr bwMode="auto">
            <a:xfrm>
              <a:off x="5137" y="4139"/>
              <a:ext cx="324" cy="75"/>
            </a:xfrm>
            <a:custGeom>
              <a:avLst/>
              <a:gdLst>
                <a:gd name="T0" fmla="*/ 660 w 3745"/>
                <a:gd name="T1" fmla="*/ 0 h 863"/>
                <a:gd name="T2" fmla="*/ 0 w 3745"/>
                <a:gd name="T3" fmla="*/ 73 h 863"/>
                <a:gd name="T4" fmla="*/ 292 w 3745"/>
                <a:gd name="T5" fmla="*/ 804 h 863"/>
                <a:gd name="T6" fmla="*/ 399 w 3745"/>
                <a:gd name="T7" fmla="*/ 863 h 863"/>
                <a:gd name="T8" fmla="*/ 637 w 3745"/>
                <a:gd name="T9" fmla="*/ 73 h 863"/>
                <a:gd name="T10" fmla="*/ 660 w 3745"/>
                <a:gd name="T11" fmla="*/ 0 h 863"/>
                <a:gd name="T12" fmla="*/ 2673 w 3745"/>
                <a:gd name="T13" fmla="*/ 181 h 863"/>
                <a:gd name="T14" fmla="*/ 2408 w 3745"/>
                <a:gd name="T15" fmla="*/ 768 h 863"/>
                <a:gd name="T16" fmla="*/ 2522 w 3745"/>
                <a:gd name="T17" fmla="*/ 729 h 863"/>
                <a:gd name="T18" fmla="*/ 2698 w 3745"/>
                <a:gd name="T19" fmla="*/ 596 h 863"/>
                <a:gd name="T20" fmla="*/ 2590 w 3745"/>
                <a:gd name="T21" fmla="*/ 533 h 863"/>
                <a:gd name="T22" fmla="*/ 2812 w 3745"/>
                <a:gd name="T23" fmla="*/ 729 h 863"/>
                <a:gd name="T24" fmla="*/ 2941 w 3745"/>
                <a:gd name="T25" fmla="*/ 768 h 863"/>
                <a:gd name="T26" fmla="*/ 2673 w 3745"/>
                <a:gd name="T27" fmla="*/ 181 h 863"/>
                <a:gd name="T28" fmla="*/ 3529 w 3745"/>
                <a:gd name="T29" fmla="*/ 203 h 863"/>
                <a:gd name="T30" fmla="*/ 3425 w 3745"/>
                <a:gd name="T31" fmla="*/ 203 h 863"/>
                <a:gd name="T32" fmla="*/ 3252 w 3745"/>
                <a:gd name="T33" fmla="*/ 768 h 863"/>
                <a:gd name="T34" fmla="*/ 3374 w 3745"/>
                <a:gd name="T35" fmla="*/ 596 h 863"/>
                <a:gd name="T36" fmla="*/ 3483 w 3745"/>
                <a:gd name="T37" fmla="*/ 533 h 863"/>
                <a:gd name="T38" fmla="*/ 3473 w 3745"/>
                <a:gd name="T39" fmla="*/ 310 h 863"/>
                <a:gd name="T40" fmla="*/ 3695 w 3745"/>
                <a:gd name="T41" fmla="*/ 768 h 863"/>
                <a:gd name="T42" fmla="*/ 3529 w 3745"/>
                <a:gd name="T43" fmla="*/ 203 h 863"/>
                <a:gd name="T44" fmla="*/ 1655 w 3745"/>
                <a:gd name="T45" fmla="*/ 181 h 863"/>
                <a:gd name="T46" fmla="*/ 1603 w 3745"/>
                <a:gd name="T47" fmla="*/ 203 h 863"/>
                <a:gd name="T48" fmla="*/ 1247 w 3745"/>
                <a:gd name="T49" fmla="*/ 515 h 863"/>
                <a:gd name="T50" fmla="*/ 1374 w 3745"/>
                <a:gd name="T51" fmla="*/ 336 h 863"/>
                <a:gd name="T52" fmla="*/ 969 w 3745"/>
                <a:gd name="T53" fmla="*/ 189 h 863"/>
                <a:gd name="T54" fmla="*/ 737 w 3745"/>
                <a:gd name="T55" fmla="*/ 704 h 863"/>
                <a:gd name="T56" fmla="*/ 625 w 3745"/>
                <a:gd name="T57" fmla="*/ 488 h 863"/>
                <a:gd name="T58" fmla="*/ 816 w 3745"/>
                <a:gd name="T59" fmla="*/ 424 h 863"/>
                <a:gd name="T60" fmla="*/ 625 w 3745"/>
                <a:gd name="T61" fmla="*/ 253 h 863"/>
                <a:gd name="T62" fmla="*/ 897 w 3745"/>
                <a:gd name="T63" fmla="*/ 189 h 863"/>
                <a:gd name="T64" fmla="*/ 520 w 3745"/>
                <a:gd name="T65" fmla="*/ 590 h 863"/>
                <a:gd name="T66" fmla="*/ 1074 w 3745"/>
                <a:gd name="T67" fmla="*/ 766 h 863"/>
                <a:gd name="T68" fmla="*/ 1149 w 3745"/>
                <a:gd name="T69" fmla="*/ 253 h 863"/>
                <a:gd name="T70" fmla="*/ 1271 w 3745"/>
                <a:gd name="T71" fmla="*/ 387 h 863"/>
                <a:gd name="T72" fmla="*/ 1110 w 3745"/>
                <a:gd name="T73" fmla="*/ 461 h 863"/>
                <a:gd name="T74" fmla="*/ 1338 w 3745"/>
                <a:gd name="T75" fmla="*/ 768 h 863"/>
                <a:gd name="T76" fmla="*/ 1505 w 3745"/>
                <a:gd name="T77" fmla="*/ 729 h 863"/>
                <a:gd name="T78" fmla="*/ 1680 w 3745"/>
                <a:gd name="T79" fmla="*/ 596 h 863"/>
                <a:gd name="T80" fmla="*/ 1573 w 3745"/>
                <a:gd name="T81" fmla="*/ 533 h 863"/>
                <a:gd name="T82" fmla="*/ 1795 w 3745"/>
                <a:gd name="T83" fmla="*/ 729 h 863"/>
                <a:gd name="T84" fmla="*/ 1923 w 3745"/>
                <a:gd name="T85" fmla="*/ 768 h 863"/>
                <a:gd name="T86" fmla="*/ 1655 w 3745"/>
                <a:gd name="T87" fmla="*/ 181 h 863"/>
                <a:gd name="T88" fmla="*/ 2304 w 3745"/>
                <a:gd name="T89" fmla="*/ 530 h 863"/>
                <a:gd name="T90" fmla="*/ 2068 w 3745"/>
                <a:gd name="T91" fmla="*/ 704 h 863"/>
                <a:gd name="T92" fmla="*/ 2159 w 3745"/>
                <a:gd name="T93" fmla="*/ 253 h 863"/>
                <a:gd name="T94" fmla="*/ 2304 w 3745"/>
                <a:gd name="T95" fmla="*/ 530 h 863"/>
                <a:gd name="T96" fmla="*/ 2409 w 3745"/>
                <a:gd name="T97" fmla="*/ 432 h 863"/>
                <a:gd name="T98" fmla="*/ 2159 w 3745"/>
                <a:gd name="T99" fmla="*/ 189 h 863"/>
                <a:gd name="T100" fmla="*/ 1963 w 3745"/>
                <a:gd name="T101" fmla="*/ 709 h 863"/>
                <a:gd name="T102" fmla="*/ 2159 w 3745"/>
                <a:gd name="T103" fmla="*/ 768 h 863"/>
                <a:gd name="T104" fmla="*/ 2409 w 3745"/>
                <a:gd name="T105" fmla="*/ 530 h 863"/>
                <a:gd name="T106" fmla="*/ 2409 w 3745"/>
                <a:gd name="T107" fmla="*/ 432 h 863"/>
                <a:gd name="T108" fmla="*/ 3332 w 3745"/>
                <a:gd name="T109" fmla="*/ 190 h 863"/>
                <a:gd name="T110" fmla="*/ 2831 w 3745"/>
                <a:gd name="T111" fmla="*/ 254 h 863"/>
                <a:gd name="T112" fmla="*/ 3028 w 3745"/>
                <a:gd name="T113" fmla="*/ 710 h 863"/>
                <a:gd name="T114" fmla="*/ 3135 w 3745"/>
                <a:gd name="T115" fmla="*/ 768 h 863"/>
                <a:gd name="T116" fmla="*/ 3313 w 3745"/>
                <a:gd name="T117" fmla="*/ 254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745" h="863">
                  <a:moveTo>
                    <a:pt x="660" y="0"/>
                  </a:moveTo>
                  <a:lnTo>
                    <a:pt x="660" y="0"/>
                  </a:lnTo>
                  <a:lnTo>
                    <a:pt x="22" y="0"/>
                  </a:lnTo>
                  <a:lnTo>
                    <a:pt x="0" y="73"/>
                  </a:lnTo>
                  <a:lnTo>
                    <a:pt x="292" y="73"/>
                  </a:lnTo>
                  <a:lnTo>
                    <a:pt x="292" y="804"/>
                  </a:lnTo>
                  <a:cubicBezTo>
                    <a:pt x="292" y="843"/>
                    <a:pt x="316" y="863"/>
                    <a:pt x="360" y="863"/>
                  </a:cubicBezTo>
                  <a:lnTo>
                    <a:pt x="399" y="863"/>
                  </a:lnTo>
                  <a:lnTo>
                    <a:pt x="399" y="73"/>
                  </a:lnTo>
                  <a:lnTo>
                    <a:pt x="637" y="73"/>
                  </a:lnTo>
                  <a:lnTo>
                    <a:pt x="660" y="0"/>
                  </a:lnTo>
                  <a:lnTo>
                    <a:pt x="660" y="0"/>
                  </a:lnTo>
                  <a:close/>
                  <a:moveTo>
                    <a:pt x="2673" y="181"/>
                  </a:moveTo>
                  <a:lnTo>
                    <a:pt x="2673" y="181"/>
                  </a:lnTo>
                  <a:cubicBezTo>
                    <a:pt x="2647" y="181"/>
                    <a:pt x="2626" y="190"/>
                    <a:pt x="2621" y="203"/>
                  </a:cubicBezTo>
                  <a:lnTo>
                    <a:pt x="2408" y="768"/>
                  </a:lnTo>
                  <a:lnTo>
                    <a:pt x="2448" y="768"/>
                  </a:lnTo>
                  <a:cubicBezTo>
                    <a:pt x="2491" y="768"/>
                    <a:pt x="2509" y="764"/>
                    <a:pt x="2522" y="729"/>
                  </a:cubicBezTo>
                  <a:lnTo>
                    <a:pt x="2570" y="596"/>
                  </a:lnTo>
                  <a:lnTo>
                    <a:pt x="2698" y="596"/>
                  </a:lnTo>
                  <a:lnTo>
                    <a:pt x="2679" y="533"/>
                  </a:lnTo>
                  <a:lnTo>
                    <a:pt x="2590" y="533"/>
                  </a:lnTo>
                  <a:lnTo>
                    <a:pt x="2669" y="310"/>
                  </a:lnTo>
                  <a:lnTo>
                    <a:pt x="2812" y="729"/>
                  </a:lnTo>
                  <a:cubicBezTo>
                    <a:pt x="2824" y="764"/>
                    <a:pt x="2845" y="768"/>
                    <a:pt x="2891" y="768"/>
                  </a:cubicBezTo>
                  <a:lnTo>
                    <a:pt x="2941" y="768"/>
                  </a:lnTo>
                  <a:lnTo>
                    <a:pt x="2725" y="203"/>
                  </a:lnTo>
                  <a:cubicBezTo>
                    <a:pt x="2720" y="190"/>
                    <a:pt x="2697" y="181"/>
                    <a:pt x="2673" y="181"/>
                  </a:cubicBezTo>
                  <a:close/>
                  <a:moveTo>
                    <a:pt x="3529" y="203"/>
                  </a:moveTo>
                  <a:lnTo>
                    <a:pt x="3529" y="203"/>
                  </a:lnTo>
                  <a:cubicBezTo>
                    <a:pt x="3524" y="190"/>
                    <a:pt x="3501" y="181"/>
                    <a:pt x="3477" y="181"/>
                  </a:cubicBezTo>
                  <a:cubicBezTo>
                    <a:pt x="3451" y="181"/>
                    <a:pt x="3430" y="190"/>
                    <a:pt x="3425" y="203"/>
                  </a:cubicBezTo>
                  <a:lnTo>
                    <a:pt x="3212" y="768"/>
                  </a:lnTo>
                  <a:lnTo>
                    <a:pt x="3252" y="768"/>
                  </a:lnTo>
                  <a:cubicBezTo>
                    <a:pt x="3294" y="768"/>
                    <a:pt x="3313" y="764"/>
                    <a:pt x="3326" y="729"/>
                  </a:cubicBezTo>
                  <a:lnTo>
                    <a:pt x="3374" y="596"/>
                  </a:lnTo>
                  <a:lnTo>
                    <a:pt x="3502" y="596"/>
                  </a:lnTo>
                  <a:lnTo>
                    <a:pt x="3483" y="533"/>
                  </a:lnTo>
                  <a:lnTo>
                    <a:pt x="3394" y="533"/>
                  </a:lnTo>
                  <a:lnTo>
                    <a:pt x="3473" y="310"/>
                  </a:lnTo>
                  <a:lnTo>
                    <a:pt x="3616" y="729"/>
                  </a:lnTo>
                  <a:cubicBezTo>
                    <a:pt x="3628" y="764"/>
                    <a:pt x="3649" y="768"/>
                    <a:pt x="3695" y="768"/>
                  </a:cubicBezTo>
                  <a:lnTo>
                    <a:pt x="3745" y="768"/>
                  </a:lnTo>
                  <a:lnTo>
                    <a:pt x="3529" y="203"/>
                  </a:lnTo>
                  <a:lnTo>
                    <a:pt x="3529" y="203"/>
                  </a:lnTo>
                  <a:close/>
                  <a:moveTo>
                    <a:pt x="1655" y="181"/>
                  </a:moveTo>
                  <a:lnTo>
                    <a:pt x="1655" y="181"/>
                  </a:lnTo>
                  <a:cubicBezTo>
                    <a:pt x="1630" y="181"/>
                    <a:pt x="1608" y="190"/>
                    <a:pt x="1603" y="203"/>
                  </a:cubicBezTo>
                  <a:lnTo>
                    <a:pt x="1399" y="746"/>
                  </a:lnTo>
                  <a:lnTo>
                    <a:pt x="1247" y="515"/>
                  </a:lnTo>
                  <a:cubicBezTo>
                    <a:pt x="1327" y="501"/>
                    <a:pt x="1374" y="459"/>
                    <a:pt x="1374" y="387"/>
                  </a:cubicBezTo>
                  <a:lnTo>
                    <a:pt x="1374" y="336"/>
                  </a:lnTo>
                  <a:cubicBezTo>
                    <a:pt x="1374" y="232"/>
                    <a:pt x="1277" y="189"/>
                    <a:pt x="1149" y="189"/>
                  </a:cubicBezTo>
                  <a:lnTo>
                    <a:pt x="969" y="189"/>
                  </a:lnTo>
                  <a:lnTo>
                    <a:pt x="969" y="704"/>
                  </a:lnTo>
                  <a:lnTo>
                    <a:pt x="737" y="704"/>
                  </a:lnTo>
                  <a:cubicBezTo>
                    <a:pt x="646" y="704"/>
                    <a:pt x="625" y="684"/>
                    <a:pt x="625" y="590"/>
                  </a:cubicBezTo>
                  <a:lnTo>
                    <a:pt x="625" y="488"/>
                  </a:lnTo>
                  <a:lnTo>
                    <a:pt x="797" y="488"/>
                  </a:lnTo>
                  <a:lnTo>
                    <a:pt x="816" y="424"/>
                  </a:lnTo>
                  <a:lnTo>
                    <a:pt x="625" y="424"/>
                  </a:lnTo>
                  <a:lnTo>
                    <a:pt x="625" y="253"/>
                  </a:lnTo>
                  <a:lnTo>
                    <a:pt x="878" y="253"/>
                  </a:lnTo>
                  <a:lnTo>
                    <a:pt x="897" y="189"/>
                  </a:lnTo>
                  <a:lnTo>
                    <a:pt x="520" y="189"/>
                  </a:lnTo>
                  <a:lnTo>
                    <a:pt x="520" y="590"/>
                  </a:lnTo>
                  <a:cubicBezTo>
                    <a:pt x="520" y="724"/>
                    <a:pt x="552" y="768"/>
                    <a:pt x="735" y="768"/>
                  </a:cubicBezTo>
                  <a:lnTo>
                    <a:pt x="1074" y="766"/>
                  </a:lnTo>
                  <a:lnTo>
                    <a:pt x="1074" y="253"/>
                  </a:lnTo>
                  <a:lnTo>
                    <a:pt x="1149" y="253"/>
                  </a:lnTo>
                  <a:cubicBezTo>
                    <a:pt x="1230" y="253"/>
                    <a:pt x="1271" y="282"/>
                    <a:pt x="1271" y="337"/>
                  </a:cubicBezTo>
                  <a:lnTo>
                    <a:pt x="1271" y="387"/>
                  </a:lnTo>
                  <a:cubicBezTo>
                    <a:pt x="1271" y="443"/>
                    <a:pt x="1220" y="461"/>
                    <a:pt x="1157" y="461"/>
                  </a:cubicBezTo>
                  <a:lnTo>
                    <a:pt x="1110" y="461"/>
                  </a:lnTo>
                  <a:lnTo>
                    <a:pt x="1269" y="733"/>
                  </a:lnTo>
                  <a:cubicBezTo>
                    <a:pt x="1287" y="765"/>
                    <a:pt x="1296" y="768"/>
                    <a:pt x="1338" y="768"/>
                  </a:cubicBezTo>
                  <a:lnTo>
                    <a:pt x="1430" y="768"/>
                  </a:lnTo>
                  <a:cubicBezTo>
                    <a:pt x="1473" y="768"/>
                    <a:pt x="1492" y="764"/>
                    <a:pt x="1505" y="729"/>
                  </a:cubicBezTo>
                  <a:lnTo>
                    <a:pt x="1552" y="596"/>
                  </a:lnTo>
                  <a:lnTo>
                    <a:pt x="1680" y="596"/>
                  </a:lnTo>
                  <a:lnTo>
                    <a:pt x="1661" y="533"/>
                  </a:lnTo>
                  <a:lnTo>
                    <a:pt x="1573" y="533"/>
                  </a:lnTo>
                  <a:lnTo>
                    <a:pt x="1652" y="310"/>
                  </a:lnTo>
                  <a:lnTo>
                    <a:pt x="1795" y="729"/>
                  </a:lnTo>
                  <a:cubicBezTo>
                    <a:pt x="1807" y="764"/>
                    <a:pt x="1827" y="768"/>
                    <a:pt x="1873" y="768"/>
                  </a:cubicBezTo>
                  <a:lnTo>
                    <a:pt x="1923" y="768"/>
                  </a:lnTo>
                  <a:lnTo>
                    <a:pt x="1707" y="203"/>
                  </a:lnTo>
                  <a:cubicBezTo>
                    <a:pt x="1702" y="190"/>
                    <a:pt x="1679" y="181"/>
                    <a:pt x="1655" y="181"/>
                  </a:cubicBezTo>
                  <a:close/>
                  <a:moveTo>
                    <a:pt x="2304" y="530"/>
                  </a:moveTo>
                  <a:lnTo>
                    <a:pt x="2304" y="530"/>
                  </a:lnTo>
                  <a:cubicBezTo>
                    <a:pt x="2304" y="647"/>
                    <a:pt x="2266" y="704"/>
                    <a:pt x="2162" y="704"/>
                  </a:cubicBezTo>
                  <a:lnTo>
                    <a:pt x="2068" y="704"/>
                  </a:lnTo>
                  <a:lnTo>
                    <a:pt x="2068" y="253"/>
                  </a:lnTo>
                  <a:lnTo>
                    <a:pt x="2159" y="253"/>
                  </a:lnTo>
                  <a:cubicBezTo>
                    <a:pt x="2266" y="253"/>
                    <a:pt x="2304" y="316"/>
                    <a:pt x="2304" y="433"/>
                  </a:cubicBezTo>
                  <a:lnTo>
                    <a:pt x="2304" y="530"/>
                  </a:lnTo>
                  <a:lnTo>
                    <a:pt x="2304" y="530"/>
                  </a:lnTo>
                  <a:close/>
                  <a:moveTo>
                    <a:pt x="2409" y="432"/>
                  </a:moveTo>
                  <a:lnTo>
                    <a:pt x="2409" y="432"/>
                  </a:lnTo>
                  <a:cubicBezTo>
                    <a:pt x="2409" y="270"/>
                    <a:pt x="2326" y="189"/>
                    <a:pt x="2159" y="189"/>
                  </a:cubicBezTo>
                  <a:lnTo>
                    <a:pt x="1963" y="189"/>
                  </a:lnTo>
                  <a:lnTo>
                    <a:pt x="1963" y="709"/>
                  </a:lnTo>
                  <a:cubicBezTo>
                    <a:pt x="1963" y="748"/>
                    <a:pt x="1984" y="768"/>
                    <a:pt x="2029" y="768"/>
                  </a:cubicBezTo>
                  <a:lnTo>
                    <a:pt x="2159" y="768"/>
                  </a:lnTo>
                  <a:lnTo>
                    <a:pt x="2180" y="767"/>
                  </a:lnTo>
                  <a:cubicBezTo>
                    <a:pt x="2337" y="761"/>
                    <a:pt x="2409" y="693"/>
                    <a:pt x="2409" y="530"/>
                  </a:cubicBezTo>
                  <a:lnTo>
                    <a:pt x="2409" y="432"/>
                  </a:lnTo>
                  <a:lnTo>
                    <a:pt x="2409" y="432"/>
                  </a:lnTo>
                  <a:close/>
                  <a:moveTo>
                    <a:pt x="3332" y="190"/>
                  </a:moveTo>
                  <a:lnTo>
                    <a:pt x="3332" y="190"/>
                  </a:lnTo>
                  <a:lnTo>
                    <a:pt x="2851" y="190"/>
                  </a:lnTo>
                  <a:lnTo>
                    <a:pt x="2831" y="254"/>
                  </a:lnTo>
                  <a:lnTo>
                    <a:pt x="3028" y="254"/>
                  </a:lnTo>
                  <a:lnTo>
                    <a:pt x="3028" y="710"/>
                  </a:lnTo>
                  <a:cubicBezTo>
                    <a:pt x="3028" y="749"/>
                    <a:pt x="3052" y="768"/>
                    <a:pt x="3096" y="768"/>
                  </a:cubicBezTo>
                  <a:lnTo>
                    <a:pt x="3135" y="768"/>
                  </a:lnTo>
                  <a:lnTo>
                    <a:pt x="3135" y="254"/>
                  </a:lnTo>
                  <a:lnTo>
                    <a:pt x="3313" y="254"/>
                  </a:lnTo>
                  <a:lnTo>
                    <a:pt x="3332" y="19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Pretendard"/>
                <a:ea typeface="Pretendard"/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5464" y="4197"/>
              <a:ext cx="8" cy="9"/>
            </a:xfrm>
            <a:custGeom>
              <a:avLst/>
              <a:gdLst>
                <a:gd name="T0" fmla="*/ 59 w 99"/>
                <a:gd name="T1" fmla="*/ 30 h 98"/>
                <a:gd name="T2" fmla="*/ 59 w 99"/>
                <a:gd name="T3" fmla="*/ 30 h 98"/>
                <a:gd name="T4" fmla="*/ 47 w 99"/>
                <a:gd name="T5" fmla="*/ 28 h 98"/>
                <a:gd name="T6" fmla="*/ 39 w 99"/>
                <a:gd name="T7" fmla="*/ 28 h 98"/>
                <a:gd name="T8" fmla="*/ 39 w 99"/>
                <a:gd name="T9" fmla="*/ 48 h 98"/>
                <a:gd name="T10" fmla="*/ 48 w 99"/>
                <a:gd name="T11" fmla="*/ 48 h 98"/>
                <a:gd name="T12" fmla="*/ 57 w 99"/>
                <a:gd name="T13" fmla="*/ 46 h 98"/>
                <a:gd name="T14" fmla="*/ 63 w 99"/>
                <a:gd name="T15" fmla="*/ 38 h 98"/>
                <a:gd name="T16" fmla="*/ 59 w 99"/>
                <a:gd name="T17" fmla="*/ 30 h 98"/>
                <a:gd name="T18" fmla="*/ 49 w 99"/>
                <a:gd name="T19" fmla="*/ 22 h 98"/>
                <a:gd name="T20" fmla="*/ 49 w 99"/>
                <a:gd name="T21" fmla="*/ 22 h 98"/>
                <a:gd name="T22" fmla="*/ 63 w 99"/>
                <a:gd name="T23" fmla="*/ 23 h 98"/>
                <a:gd name="T24" fmla="*/ 72 w 99"/>
                <a:gd name="T25" fmla="*/ 37 h 98"/>
                <a:gd name="T26" fmla="*/ 66 w 99"/>
                <a:gd name="T27" fmla="*/ 48 h 98"/>
                <a:gd name="T28" fmla="*/ 59 w 99"/>
                <a:gd name="T29" fmla="*/ 51 h 98"/>
                <a:gd name="T30" fmla="*/ 68 w 99"/>
                <a:gd name="T31" fmla="*/ 56 h 98"/>
                <a:gd name="T32" fmla="*/ 71 w 99"/>
                <a:gd name="T33" fmla="*/ 64 h 98"/>
                <a:gd name="T34" fmla="*/ 71 w 99"/>
                <a:gd name="T35" fmla="*/ 68 h 98"/>
                <a:gd name="T36" fmla="*/ 71 w 99"/>
                <a:gd name="T37" fmla="*/ 72 h 98"/>
                <a:gd name="T38" fmla="*/ 72 w 99"/>
                <a:gd name="T39" fmla="*/ 75 h 98"/>
                <a:gd name="T40" fmla="*/ 72 w 99"/>
                <a:gd name="T41" fmla="*/ 76 h 98"/>
                <a:gd name="T42" fmla="*/ 63 w 99"/>
                <a:gd name="T43" fmla="*/ 76 h 98"/>
                <a:gd name="T44" fmla="*/ 63 w 99"/>
                <a:gd name="T45" fmla="*/ 75 h 98"/>
                <a:gd name="T46" fmla="*/ 63 w 99"/>
                <a:gd name="T47" fmla="*/ 75 h 98"/>
                <a:gd name="T48" fmla="*/ 62 w 99"/>
                <a:gd name="T49" fmla="*/ 73 h 98"/>
                <a:gd name="T50" fmla="*/ 62 w 99"/>
                <a:gd name="T51" fmla="*/ 69 h 98"/>
                <a:gd name="T52" fmla="*/ 57 w 99"/>
                <a:gd name="T53" fmla="*/ 56 h 98"/>
                <a:gd name="T54" fmla="*/ 47 w 99"/>
                <a:gd name="T55" fmla="*/ 54 h 98"/>
                <a:gd name="T56" fmla="*/ 39 w 99"/>
                <a:gd name="T57" fmla="*/ 54 h 98"/>
                <a:gd name="T58" fmla="*/ 39 w 99"/>
                <a:gd name="T59" fmla="*/ 76 h 98"/>
                <a:gd name="T60" fmla="*/ 30 w 99"/>
                <a:gd name="T61" fmla="*/ 76 h 98"/>
                <a:gd name="T62" fmla="*/ 30 w 99"/>
                <a:gd name="T63" fmla="*/ 22 h 98"/>
                <a:gd name="T64" fmla="*/ 49 w 99"/>
                <a:gd name="T65" fmla="*/ 22 h 98"/>
                <a:gd name="T66" fmla="*/ 49 w 99"/>
                <a:gd name="T67" fmla="*/ 22 h 98"/>
                <a:gd name="T68" fmla="*/ 20 w 99"/>
                <a:gd name="T69" fmla="*/ 19 h 98"/>
                <a:gd name="T70" fmla="*/ 20 w 99"/>
                <a:gd name="T71" fmla="*/ 19 h 98"/>
                <a:gd name="T72" fmla="*/ 7 w 99"/>
                <a:gd name="T73" fmla="*/ 49 h 98"/>
                <a:gd name="T74" fmla="*/ 20 w 99"/>
                <a:gd name="T75" fmla="*/ 79 h 98"/>
                <a:gd name="T76" fmla="*/ 50 w 99"/>
                <a:gd name="T77" fmla="*/ 92 h 98"/>
                <a:gd name="T78" fmla="*/ 80 w 99"/>
                <a:gd name="T79" fmla="*/ 79 h 98"/>
                <a:gd name="T80" fmla="*/ 92 w 99"/>
                <a:gd name="T81" fmla="*/ 49 h 98"/>
                <a:gd name="T82" fmla="*/ 80 w 99"/>
                <a:gd name="T83" fmla="*/ 19 h 98"/>
                <a:gd name="T84" fmla="*/ 50 w 99"/>
                <a:gd name="T85" fmla="*/ 6 h 98"/>
                <a:gd name="T86" fmla="*/ 20 w 99"/>
                <a:gd name="T87" fmla="*/ 19 h 98"/>
                <a:gd name="T88" fmla="*/ 85 w 99"/>
                <a:gd name="T89" fmla="*/ 84 h 98"/>
                <a:gd name="T90" fmla="*/ 85 w 99"/>
                <a:gd name="T91" fmla="*/ 84 h 98"/>
                <a:gd name="T92" fmla="*/ 50 w 99"/>
                <a:gd name="T93" fmla="*/ 98 h 98"/>
                <a:gd name="T94" fmla="*/ 15 w 99"/>
                <a:gd name="T95" fmla="*/ 84 h 98"/>
                <a:gd name="T96" fmla="*/ 0 w 99"/>
                <a:gd name="T97" fmla="*/ 49 h 98"/>
                <a:gd name="T98" fmla="*/ 15 w 99"/>
                <a:gd name="T99" fmla="*/ 14 h 98"/>
                <a:gd name="T100" fmla="*/ 50 w 99"/>
                <a:gd name="T101" fmla="*/ 0 h 98"/>
                <a:gd name="T102" fmla="*/ 85 w 99"/>
                <a:gd name="T103" fmla="*/ 14 h 98"/>
                <a:gd name="T104" fmla="*/ 99 w 99"/>
                <a:gd name="T105" fmla="*/ 49 h 98"/>
                <a:gd name="T106" fmla="*/ 85 w 99"/>
                <a:gd name="T107" fmla="*/ 8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9" h="98">
                  <a:moveTo>
                    <a:pt x="59" y="30"/>
                  </a:moveTo>
                  <a:lnTo>
                    <a:pt x="59" y="30"/>
                  </a:lnTo>
                  <a:cubicBezTo>
                    <a:pt x="57" y="29"/>
                    <a:pt x="53" y="28"/>
                    <a:pt x="47" y="28"/>
                  </a:cubicBezTo>
                  <a:lnTo>
                    <a:pt x="39" y="28"/>
                  </a:lnTo>
                  <a:lnTo>
                    <a:pt x="39" y="48"/>
                  </a:lnTo>
                  <a:lnTo>
                    <a:pt x="48" y="48"/>
                  </a:lnTo>
                  <a:cubicBezTo>
                    <a:pt x="52" y="48"/>
                    <a:pt x="55" y="47"/>
                    <a:pt x="57" y="46"/>
                  </a:cubicBezTo>
                  <a:cubicBezTo>
                    <a:pt x="61" y="45"/>
                    <a:pt x="63" y="42"/>
                    <a:pt x="63" y="38"/>
                  </a:cubicBezTo>
                  <a:cubicBezTo>
                    <a:pt x="63" y="34"/>
                    <a:pt x="61" y="31"/>
                    <a:pt x="59" y="30"/>
                  </a:cubicBezTo>
                  <a:close/>
                  <a:moveTo>
                    <a:pt x="49" y="22"/>
                  </a:moveTo>
                  <a:lnTo>
                    <a:pt x="49" y="22"/>
                  </a:lnTo>
                  <a:cubicBezTo>
                    <a:pt x="55" y="22"/>
                    <a:pt x="60" y="22"/>
                    <a:pt x="63" y="23"/>
                  </a:cubicBezTo>
                  <a:cubicBezTo>
                    <a:pt x="69" y="26"/>
                    <a:pt x="72" y="30"/>
                    <a:pt x="72" y="37"/>
                  </a:cubicBezTo>
                  <a:cubicBezTo>
                    <a:pt x="72" y="42"/>
                    <a:pt x="70" y="46"/>
                    <a:pt x="66" y="48"/>
                  </a:cubicBezTo>
                  <a:cubicBezTo>
                    <a:pt x="65" y="49"/>
                    <a:pt x="62" y="50"/>
                    <a:pt x="59" y="51"/>
                  </a:cubicBezTo>
                  <a:cubicBezTo>
                    <a:pt x="63" y="51"/>
                    <a:pt x="66" y="53"/>
                    <a:pt x="68" y="56"/>
                  </a:cubicBezTo>
                  <a:cubicBezTo>
                    <a:pt x="70" y="59"/>
                    <a:pt x="71" y="62"/>
                    <a:pt x="71" y="64"/>
                  </a:cubicBezTo>
                  <a:lnTo>
                    <a:pt x="71" y="68"/>
                  </a:lnTo>
                  <a:cubicBezTo>
                    <a:pt x="71" y="69"/>
                    <a:pt x="71" y="71"/>
                    <a:pt x="71" y="72"/>
                  </a:cubicBezTo>
                  <a:cubicBezTo>
                    <a:pt x="71" y="74"/>
                    <a:pt x="71" y="75"/>
                    <a:pt x="72" y="75"/>
                  </a:cubicBezTo>
                  <a:lnTo>
                    <a:pt x="72" y="76"/>
                  </a:lnTo>
                  <a:lnTo>
                    <a:pt x="63" y="76"/>
                  </a:lnTo>
                  <a:cubicBezTo>
                    <a:pt x="63" y="76"/>
                    <a:pt x="63" y="75"/>
                    <a:pt x="63" y="75"/>
                  </a:cubicBezTo>
                  <a:cubicBezTo>
                    <a:pt x="63" y="75"/>
                    <a:pt x="63" y="75"/>
                    <a:pt x="63" y="75"/>
                  </a:cubicBezTo>
                  <a:lnTo>
                    <a:pt x="62" y="73"/>
                  </a:lnTo>
                  <a:lnTo>
                    <a:pt x="62" y="69"/>
                  </a:lnTo>
                  <a:cubicBezTo>
                    <a:pt x="62" y="62"/>
                    <a:pt x="61" y="58"/>
                    <a:pt x="57" y="56"/>
                  </a:cubicBezTo>
                  <a:cubicBezTo>
                    <a:pt x="55" y="55"/>
                    <a:pt x="52" y="54"/>
                    <a:pt x="47" y="54"/>
                  </a:cubicBezTo>
                  <a:lnTo>
                    <a:pt x="39" y="54"/>
                  </a:lnTo>
                  <a:lnTo>
                    <a:pt x="39" y="76"/>
                  </a:lnTo>
                  <a:lnTo>
                    <a:pt x="30" y="76"/>
                  </a:lnTo>
                  <a:lnTo>
                    <a:pt x="30" y="22"/>
                  </a:lnTo>
                  <a:lnTo>
                    <a:pt x="49" y="22"/>
                  </a:lnTo>
                  <a:lnTo>
                    <a:pt x="49" y="22"/>
                  </a:lnTo>
                  <a:close/>
                  <a:moveTo>
                    <a:pt x="20" y="19"/>
                  </a:moveTo>
                  <a:lnTo>
                    <a:pt x="20" y="19"/>
                  </a:lnTo>
                  <a:cubicBezTo>
                    <a:pt x="11" y="27"/>
                    <a:pt x="7" y="37"/>
                    <a:pt x="7" y="49"/>
                  </a:cubicBezTo>
                  <a:cubicBezTo>
                    <a:pt x="7" y="61"/>
                    <a:pt x="11" y="71"/>
                    <a:pt x="20" y="79"/>
                  </a:cubicBezTo>
                  <a:cubicBezTo>
                    <a:pt x="28" y="87"/>
                    <a:pt x="38" y="92"/>
                    <a:pt x="50" y="92"/>
                  </a:cubicBezTo>
                  <a:cubicBezTo>
                    <a:pt x="61" y="92"/>
                    <a:pt x="71" y="87"/>
                    <a:pt x="80" y="79"/>
                  </a:cubicBezTo>
                  <a:cubicBezTo>
                    <a:pt x="88" y="71"/>
                    <a:pt x="92" y="61"/>
                    <a:pt x="92" y="49"/>
                  </a:cubicBezTo>
                  <a:cubicBezTo>
                    <a:pt x="92" y="37"/>
                    <a:pt x="88" y="27"/>
                    <a:pt x="80" y="19"/>
                  </a:cubicBezTo>
                  <a:cubicBezTo>
                    <a:pt x="71" y="10"/>
                    <a:pt x="61" y="6"/>
                    <a:pt x="50" y="6"/>
                  </a:cubicBezTo>
                  <a:cubicBezTo>
                    <a:pt x="38" y="6"/>
                    <a:pt x="28" y="10"/>
                    <a:pt x="20" y="19"/>
                  </a:cubicBezTo>
                  <a:close/>
                  <a:moveTo>
                    <a:pt x="85" y="84"/>
                  </a:moveTo>
                  <a:lnTo>
                    <a:pt x="85" y="84"/>
                  </a:lnTo>
                  <a:cubicBezTo>
                    <a:pt x="75" y="94"/>
                    <a:pt x="63" y="98"/>
                    <a:pt x="50" y="98"/>
                  </a:cubicBezTo>
                  <a:cubicBezTo>
                    <a:pt x="36" y="98"/>
                    <a:pt x="24" y="94"/>
                    <a:pt x="15" y="84"/>
                  </a:cubicBezTo>
                  <a:cubicBezTo>
                    <a:pt x="5" y="74"/>
                    <a:pt x="0" y="63"/>
                    <a:pt x="0" y="49"/>
                  </a:cubicBezTo>
                  <a:cubicBezTo>
                    <a:pt x="0" y="35"/>
                    <a:pt x="5" y="24"/>
                    <a:pt x="15" y="14"/>
                  </a:cubicBezTo>
                  <a:cubicBezTo>
                    <a:pt x="24" y="4"/>
                    <a:pt x="36" y="0"/>
                    <a:pt x="50" y="0"/>
                  </a:cubicBezTo>
                  <a:cubicBezTo>
                    <a:pt x="63" y="0"/>
                    <a:pt x="75" y="4"/>
                    <a:pt x="85" y="14"/>
                  </a:cubicBezTo>
                  <a:cubicBezTo>
                    <a:pt x="94" y="24"/>
                    <a:pt x="99" y="35"/>
                    <a:pt x="99" y="49"/>
                  </a:cubicBezTo>
                  <a:cubicBezTo>
                    <a:pt x="99" y="63"/>
                    <a:pt x="94" y="74"/>
                    <a:pt x="85" y="8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Pretendard"/>
                <a:ea typeface="Pretendard"/>
              </a:endParaRPr>
            </a:p>
          </p:txBody>
        </p:sp>
      </p:grpSp>
      <p:sp>
        <p:nvSpPr>
          <p:cNvPr id="3" name="슬라이드 번호 개체 틀 6">
            <a:extLst>
              <a:ext uri="{FF2B5EF4-FFF2-40B4-BE49-F238E27FC236}">
                <a16:creationId xmlns:a16="http://schemas.microsoft.com/office/drawing/2014/main" id="{2D27525A-0A31-54D0-7C3E-93C517316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‹#›</a:t>
            </a:fld>
            <a:endParaRPr lang="ko-KR" altLang="en-US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03072718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/Tabl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6">
            <a:extLst>
              <a:ext uri="{FF2B5EF4-FFF2-40B4-BE49-F238E27FC236}">
                <a16:creationId xmlns:a16="http://schemas.microsoft.com/office/drawing/2014/main" id="{AAA5D62D-F35E-D7FE-6596-5C9789C05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 algn="r"/>
              <a:t>‹#›</a:t>
            </a:fld>
            <a:endParaRPr lang="ko-KR" altLang="en-US" sz="8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71845180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2DD3D-B595-4C1C-9AA3-5D3F4218F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Pretendard"/>
                <a:ea typeface="Pretendard"/>
              </a:defRPr>
            </a:lvl1pPr>
          </a:lstStyle>
          <a:p>
            <a:r>
              <a:rPr lang="ko-KR" altLang="en-US">
                <a:latin typeface="Pretendard"/>
                <a:ea typeface="Pretendard"/>
              </a:rPr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D683BA-51BD-46D3-900C-96B554AB4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Pretendard"/>
                <a:ea typeface="Pretendard"/>
              </a:defRPr>
            </a:lvl1pPr>
            <a:lvl2pPr marL="457200" indent="0" algn="ctr">
              <a:buNone/>
              <a:defRPr sz="2000">
                <a:latin typeface="Pretendard"/>
                <a:ea typeface="Pretendard"/>
              </a:defRPr>
            </a:lvl2pPr>
            <a:lvl3pPr marL="914400" indent="0" algn="ctr">
              <a:buNone/>
              <a:defRPr sz="1800">
                <a:latin typeface="Pretendard"/>
                <a:ea typeface="Pretendard"/>
              </a:defRPr>
            </a:lvl3pPr>
            <a:lvl4pPr marL="1371600" indent="0" algn="ctr">
              <a:buNone/>
              <a:defRPr sz="1600">
                <a:latin typeface="Pretendard"/>
                <a:ea typeface="Pretendard"/>
              </a:defRPr>
            </a:lvl4pPr>
            <a:lvl5pPr marL="1828800" indent="0" algn="ctr">
              <a:buNone/>
              <a:defRPr sz="1600">
                <a:latin typeface="Pretendard"/>
                <a:ea typeface="Pretendard"/>
              </a:defRPr>
            </a:lvl5pPr>
            <a:lvl6pPr marL="2286000" indent="0" algn="ctr">
              <a:buNone/>
              <a:defRPr sz="1600">
                <a:latin typeface="Pretendard"/>
                <a:ea typeface="Pretendard"/>
              </a:defRPr>
            </a:lvl6pPr>
            <a:lvl7pPr marL="2743200" indent="0" algn="ctr">
              <a:buNone/>
              <a:defRPr sz="1600">
                <a:latin typeface="Pretendard"/>
                <a:ea typeface="Pretendard"/>
              </a:defRPr>
            </a:lvl7pPr>
            <a:lvl8pPr marL="3200400" indent="0" algn="ctr">
              <a:buNone/>
              <a:defRPr sz="1600">
                <a:latin typeface="Pretendard"/>
                <a:ea typeface="Pretendard"/>
              </a:defRPr>
            </a:lvl8pPr>
            <a:lvl9pPr marL="3657600" indent="0" algn="ctr">
              <a:buNone/>
              <a:defRPr sz="1600">
                <a:latin typeface="Pretendard"/>
                <a:ea typeface="Pretendard"/>
              </a:defRPr>
            </a:lvl9pPr>
          </a:lstStyle>
          <a:p>
            <a:r>
              <a:rPr lang="ko-KR" altLang="en-US">
                <a:latin typeface="Pretendard"/>
                <a:ea typeface="Pretendard"/>
              </a:rPr>
              <a:t>클릭하여 마스터 부제목 스타일 편집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037A00-458C-DB4C-20A3-2A89E0FFE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749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 algn="r"/>
              <a:t>‹#›</a:t>
            </a:fld>
            <a:endParaRPr lang="ko-KR" altLang="en-US" sz="80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7797764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62C77B-DF28-4051-A2E3-ABFF11DDA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59" y="0"/>
            <a:ext cx="10515600" cy="7544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>
                <a:latin typeface="Pretendard"/>
                <a:ea typeface="Pretendard"/>
              </a:rP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50D224-5600-42CF-8A3F-A3F905563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1721"/>
            <a:ext cx="10515600" cy="5408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>
                <a:latin typeface="Pretendard"/>
                <a:ea typeface="Pretendard"/>
              </a:rPr>
              <a:t>마스터 텍스트 스타일을 편집하려면 클릭</a:t>
            </a:r>
          </a:p>
          <a:p>
            <a:pPr lvl="1"/>
            <a:r>
              <a:rPr lang="ko-KR" altLang="en-US">
                <a:latin typeface="Pretendard"/>
                <a:ea typeface="Pretendard"/>
              </a:rPr>
              <a:t>두 번째 수준</a:t>
            </a:r>
          </a:p>
          <a:p>
            <a:pPr lvl="2"/>
            <a:r>
              <a:rPr lang="ko-KR" altLang="en-US">
                <a:latin typeface="Pretendard"/>
                <a:ea typeface="Pretendard"/>
              </a:rPr>
              <a:t>세 번째 수준</a:t>
            </a:r>
          </a:p>
          <a:p>
            <a:pPr lvl="3"/>
            <a:r>
              <a:rPr lang="ko-KR" altLang="en-US">
                <a:latin typeface="Pretendard"/>
                <a:ea typeface="Pretendard"/>
              </a:rPr>
              <a:t>네 번째 수준</a:t>
            </a:r>
          </a:p>
          <a:p>
            <a:pPr lvl="4"/>
            <a:r>
              <a:rPr lang="ko-KR" altLang="en-US">
                <a:latin typeface="Pretendard"/>
                <a:ea typeface="Pretendard"/>
              </a:rPr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ECAACC-95AC-47CF-8F0A-8D9A05945555}"/>
              </a:ext>
            </a:extLst>
          </p:cNvPr>
          <p:cNvSpPr/>
          <p:nvPr userDrawn="1"/>
        </p:nvSpPr>
        <p:spPr>
          <a:xfrm>
            <a:off x="-1" y="0"/>
            <a:ext cx="40990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D5233D-620A-46D6-8BB5-3F29F98748DE}"/>
              </a:ext>
            </a:extLst>
          </p:cNvPr>
          <p:cNvSpPr/>
          <p:nvPr userDrawn="1"/>
        </p:nvSpPr>
        <p:spPr>
          <a:xfrm>
            <a:off x="388056" y="754481"/>
            <a:ext cx="11803944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62443F-67A2-4292-92C0-0F5844407A90}"/>
              </a:ext>
            </a:extLst>
          </p:cNvPr>
          <p:cNvSpPr/>
          <p:nvPr userDrawn="1"/>
        </p:nvSpPr>
        <p:spPr>
          <a:xfrm>
            <a:off x="484715" y="0"/>
            <a:ext cx="45719" cy="10515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9EB043-71DB-9F76-BBA9-0F47281AE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211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Pretendard"/>
                <a:ea typeface="Pretendard"/>
              </a:defRPr>
            </a:lvl1pPr>
          </a:lstStyle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‹#›</a:t>
            </a:fld>
            <a:endParaRPr lang="ko-KR" altLang="en-US">
              <a:latin typeface="Pretendard"/>
              <a:ea typeface="Pretendard"/>
            </a:endParaRPr>
          </a:p>
        </p:txBody>
      </p:sp>
      <p:sp>
        <p:nvSpPr>
          <p:cNvPr id="14" name="AccentLineBottom"/>
          <p:cNvSpPr/>
          <p:nvPr userDrawn="1"/>
        </p:nvSpPr>
        <p:spPr>
          <a:xfrm>
            <a:off x="57150" y="6750000"/>
            <a:ext cx="12143700" cy="19050"/>
          </a:xfrm>
          <a:prstGeom prst="rect">
            <a:avLst/>
          </a:prstGeom>
          <a:gradFill>
            <a:gsLst>
              <a:gs pos="0">
                <a:srgbClr val="3A86FF">
                  <a:alpha val="0"/>
                </a:srgbClr>
              </a:gs>
              <a:gs pos="30000">
                <a:srgbClr val="3A86FF"/>
              </a:gs>
              <a:gs pos="70000">
                <a:srgbClr val="00D4AA"/>
              </a:gs>
              <a:gs pos="100000">
                <a:srgbClr val="00D4AA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ko-KR">
              <a:latin typeface="Pretendard"/>
              <a:ea typeface="Pretendard"/>
            </a:endParaRPr>
          </a:p>
        </p:txBody>
      </p:sp>
      <p:sp>
        <p:nvSpPr>
          <p:cNvPr id="15" name="AccentTriangle"/>
          <p:cNvSpPr/>
          <p:nvPr userDrawn="1"/>
        </p:nvSpPr>
        <p:spPr>
          <a:xfrm rot="10800000">
            <a:off x="10972800" y="0"/>
            <a:ext cx="1219200" cy="914400"/>
          </a:xfrm>
          <a:prstGeom prst="rtTriangle">
            <a:avLst/>
          </a:prstGeom>
          <a:solidFill>
            <a:srgbClr val="3A86FF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ko-KR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845745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000" b="1" kern="1200">
          <a:solidFill>
            <a:srgbClr val="1B2A4A"/>
          </a:solidFill>
          <a:latin typeface="Pretendard"/>
          <a:ea typeface="Pretendard"/>
          <a:cs typeface="Pretendard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rgbClr val="2C3E5A"/>
          </a:solidFill>
          <a:latin typeface="Pretendard"/>
          <a:ea typeface="Pretendard"/>
          <a:cs typeface="Pretendard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2C3E5A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rgbClr val="2C3E5A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rgbClr val="2C3E5A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rgbClr val="2C3E5A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ko-KR">
          <a:latin typeface="Pretendard"/>
          <a:ea typeface="Pretendard"/>
        </a:defRPr>
      </a:defPPr>
      <a:lvl1pPr marL="0" algn="l" defTabSz="914400" rtl="0" eaLnBrk="1" latinLnBrk="1" hangingPunct="1">
        <a:defRPr sz="1800" kern="1200">
          <a:solidFill>
            <a:srgbClr val="7F8FA9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png"/><Relationship Id="rId9" Type="http://schemas.openxmlformats.org/officeDocument/2006/relationships/image" Target="../media/image8.jp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donchang0725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/>
        </p:nvSpPr>
        <p:spPr>
          <a:xfrm>
            <a:off x="1524000" y="1586729"/>
            <a:ext cx="9144000" cy="211243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b="1">
                <a:solidFill>
                  <a:schemeClr val="bg1"/>
                </a:solidFill>
                <a:latin typeface="Pretendard"/>
                <a:ea typeface="Pretendard"/>
              </a:rPr>
              <a:t>인텍플러스 AI 업그레이드 체계 제안</a:t>
            </a:r>
            <a:r>
              <a:rPr lang="ko-KR" altLang="en-US" sz="3600" b="1">
                <a:solidFill>
                  <a:schemeClr val="bg1"/>
                </a:solidFill>
                <a:latin typeface="Pretendard"/>
                <a:ea typeface="Pretendard"/>
              </a:rPr>
              <a:t/>
            </a:r>
            <a:r>
              <a:rPr lang="en-US" altLang="ko-KR" sz="3600" b="1">
                <a:solidFill>
                  <a:schemeClr val="bg1"/>
                </a:solidFill>
                <a:latin typeface="Pretendard"/>
                <a:ea typeface="Pretendard"/>
              </a:rPr>
              <a:t/>
            </a:r>
          </a:p>
          <a:p>
            <a:pPr algn="ctr"/>
            <a:endParaRPr lang="en-US" altLang="ko-KR" sz="3600" b="1">
              <a:solidFill>
                <a:schemeClr val="bg1"/>
              </a:solidFill>
              <a:latin typeface="Pretendard"/>
              <a:ea typeface="Pretendard"/>
            </a:endParaRPr>
          </a:p>
          <a:p>
            <a:pPr algn="ctr"/>
            <a:r>
              <a:rPr lang="ko-KR" altLang="en-US" b="1">
                <a:solidFill>
                  <a:schemeClr val="bg1"/>
                </a:solidFill>
                <a:latin typeface="Pretendard"/>
                <a:ea typeface="Pretendard"/>
              </a:rPr>
              <a:t>장동인</a:t>
            </a:r>
            <a:endParaRPr lang="en-US" altLang="ko-KR" b="1" dirty="0">
              <a:solidFill>
                <a:schemeClr val="bg1"/>
              </a:solidFill>
              <a:latin typeface="Pretendard"/>
              <a:ea typeface="Pretendard"/>
            </a:endParaRPr>
          </a:p>
          <a:p>
            <a:pPr algn="ctr"/>
            <a:r>
              <a:rPr lang="en-US" altLang="ko-KR" b="1">
                <a:solidFill>
                  <a:schemeClr val="bg1"/>
                </a:solidFill>
                <a:latin typeface="Pretendard"/>
                <a:ea typeface="Pretendard"/>
              </a:rPr>
              <a:t>KAIST</a:t>
            </a:r>
            <a:r>
              <a:rPr lang="en-US" altLang="ko-KR" b="1" dirty="0">
                <a:solidFill>
                  <a:schemeClr val="bg1"/>
                </a:solidFill>
                <a:latin typeface="Pretendard"/>
                <a:ea typeface="Pretendard"/>
              </a:rPr>
              <a:t> AI </a:t>
            </a:r>
            <a:r>
              <a:rPr lang="ko-KR" altLang="en-US" b="1" dirty="0">
                <a:solidFill>
                  <a:schemeClr val="bg1"/>
                </a:solidFill>
                <a:latin typeface="Pretendard"/>
                <a:ea typeface="Pretendard"/>
              </a:rPr>
              <a:t>대학원 책임교수</a:t>
            </a:r>
            <a:r>
              <a:rPr lang="en-US" altLang="ko-KR" b="1" dirty="0">
                <a:solidFill>
                  <a:schemeClr val="bg1"/>
                </a:solidFill>
                <a:latin typeface="Pretendard"/>
                <a:ea typeface="Pretendard"/>
              </a:rPr>
              <a:t>/AIBB LAB </a:t>
            </a:r>
            <a:r>
              <a:rPr lang="ko-KR" altLang="en-US" b="1" dirty="0">
                <a:solidFill>
                  <a:schemeClr val="bg1"/>
                </a:solidFill>
                <a:latin typeface="Pretendard"/>
                <a:ea typeface="Pretendard"/>
              </a:rPr>
              <a:t>대표</a:t>
            </a:r>
            <a:endParaRPr lang="en-US" altLang="ko-KR" b="1" dirty="0">
              <a:solidFill>
                <a:schemeClr val="bg1"/>
              </a:solidFill>
              <a:latin typeface="Pretendard"/>
              <a:ea typeface="Pretendar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3FF936-4C0F-29B9-86FB-8167594B9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1</a:t>
            </a:fld>
            <a:endParaRPr lang="ko-KR" altLang="en-US" dirty="0"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1503411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057400" y="152400"/>
            <a:ext cx="8915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endParaRPr lang="ko-KR" altLang="en-US" sz="1600" b="1" dirty="0">
              <a:solidFill>
                <a:srgbClr val="000066"/>
              </a:solidFill>
              <a:latin typeface="Pretendard"/>
              <a:ea typeface="Pretendard"/>
            </a:endParaRPr>
          </a:p>
        </p:txBody>
      </p:sp>
      <p:sp>
        <p:nvSpPr>
          <p:cNvPr id="12" name="AutoShape 72"/>
          <p:cNvSpPr>
            <a:spLocks noChangeArrowheads="1"/>
          </p:cNvSpPr>
          <p:nvPr/>
        </p:nvSpPr>
        <p:spPr bwMode="gray">
          <a:xfrm rot="5400000">
            <a:off x="2617054" y="-118224"/>
            <a:ext cx="246062" cy="247994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Pretendard" panose="020B0503020000020004" pitchFamily="50" charset="-127"/>
                <a:ea typeface="Pretendard" panose="020B0503020000020004" pitchFamily="50" charset="-127"/>
                <a:cs typeface="Pretendard" pitchFamily="18" charset="0"/>
              </a:rPr>
              <a:t>경력</a:t>
            </a:r>
            <a:endParaRPr lang="en-US" altLang="en-US" sz="1200" b="1" dirty="0">
              <a:latin typeface="Pretendard" panose="020B0503020000020004" pitchFamily="50" charset="-127"/>
              <a:ea typeface="Pretendard" panose="020B0503020000020004" pitchFamily="50" charset="-127"/>
              <a:cs typeface="Pretendard" pitchFamily="18" charset="0"/>
            </a:endParaRPr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1493398" y="1419491"/>
            <a:ext cx="4080412" cy="283923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현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,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KAIST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김재철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AI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대학원 책임교수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(CAIO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과정 담당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현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, AiBB Lab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대표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(AI, Big Data, Blockchain)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연세대 의료 블록체인 고위과정 주임교수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국방과학연구소 빅데이터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/AI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과제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PM 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한국 </a:t>
            </a:r>
            <a:r>
              <a:rPr lang="ko-KR" altLang="en-US" sz="900" dirty="0" err="1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테라데이타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 부사장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미래읽기 컨설팅 대표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Ernst &amp; Young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컨설팅 본부장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Deloitte consulting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전무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(CRM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부문 파트너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)</a:t>
            </a:r>
            <a:endParaRPr lang="en-US" altLang="ko-KR" sz="900" dirty="0"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SAS Korea 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부사장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Siebel Korea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초대 지사장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Oracle Korea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컨설팅 본부 이사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Oracle HQ, Senior Principal Consultant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Germany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Amadeus, System Support Engineer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American Airline Information Service, Consultant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EDS, System Engineer</a:t>
            </a:r>
          </a:p>
          <a:p>
            <a:pPr marL="114300" indent="-114300" fontAlgn="t">
              <a:spcBef>
                <a:spcPct val="30000"/>
              </a:spcBef>
              <a:buSzPct val="70000"/>
              <a:buFont typeface="Wingdings" pitchFamily="2" charset="2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VISA International, Programmer</a:t>
            </a:r>
          </a:p>
        </p:txBody>
      </p:sp>
      <p:sp>
        <p:nvSpPr>
          <p:cNvPr id="15" name="AutoShape 78"/>
          <p:cNvSpPr>
            <a:spLocks noChangeArrowheads="1"/>
          </p:cNvSpPr>
          <p:nvPr/>
        </p:nvSpPr>
        <p:spPr bwMode="gray">
          <a:xfrm rot="5400000">
            <a:off x="7424682" y="-235812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Pretendard" panose="020B0503020000020004" pitchFamily="50" charset="-127"/>
                <a:ea typeface="Pretendard" panose="020B0503020000020004" pitchFamily="50" charset="-127"/>
                <a:cs typeface="Pretendard" pitchFamily="18" charset="0"/>
              </a:rPr>
              <a:t>전문분야</a:t>
            </a:r>
            <a:endParaRPr lang="en-US" altLang="en-US" sz="1200" b="1" dirty="0">
              <a:latin typeface="Pretendard" panose="020B0503020000020004" pitchFamily="50" charset="-127"/>
              <a:ea typeface="Pretendard" panose="020B0503020000020004" pitchFamily="50" charset="-127"/>
              <a:cs typeface="Pretendard" pitchFamily="18" charset="0"/>
            </a:endParaRPr>
          </a:p>
        </p:txBody>
      </p:sp>
      <p:sp>
        <p:nvSpPr>
          <p:cNvPr id="16" name="Text Box 82"/>
          <p:cNvSpPr txBox="1">
            <a:spLocks noChangeArrowheads="1"/>
          </p:cNvSpPr>
          <p:nvPr/>
        </p:nvSpPr>
        <p:spPr bwMode="auto">
          <a:xfrm>
            <a:off x="6486212" y="1419491"/>
            <a:ext cx="3921877" cy="69865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돈되는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AI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/>
                <a:cs typeface="Pretendard" charset="0"/>
              </a:rPr>
              <a:t> 도입과 활용을 위한 전략컨설팅</a:t>
            </a:r>
            <a:endParaRPr lang="en-US" altLang="ko-KR" sz="900">
              <a:solidFill>
                <a:srgbClr val="000000"/>
              </a:solidFill>
              <a:latin typeface="Pretendard" pitchFamily="50" charset="-127"/>
              <a:ea typeface="Pretendard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CEO</a:t>
            </a:r>
            <a:r>
              <a:rPr lang="ko-KR" altLang="en-US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를 위한 </a:t>
            </a:r>
            <a:r>
              <a:rPr lang="en-US" altLang="ko-KR" sz="9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AI 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코딩 스쿨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운영중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)</a:t>
            </a: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실무자를 위한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AI 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코딩 스쿨 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</a:t>
            </a:r>
            <a:r>
              <a:rPr lang="ko-KR" altLang="en-US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운영중</a:t>
            </a:r>
            <a:r>
              <a:rPr lang="en-US" altLang="ko-KR" sz="9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)</a:t>
            </a:r>
            <a:endParaRPr lang="en-US" altLang="ko-KR" sz="9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 fontAlgn="t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10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벤처기업 고문</a:t>
            </a:r>
            <a:r>
              <a:rPr lang="en-US" altLang="ko-KR" sz="10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/Advisor</a:t>
            </a:r>
            <a:endParaRPr lang="en-US" altLang="ko-KR" sz="10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</p:txBody>
      </p:sp>
      <p:sp>
        <p:nvSpPr>
          <p:cNvPr id="17" name="AutoShape 78"/>
          <p:cNvSpPr>
            <a:spLocks noChangeArrowheads="1"/>
          </p:cNvSpPr>
          <p:nvPr/>
        </p:nvSpPr>
        <p:spPr bwMode="gray">
          <a:xfrm rot="5400000">
            <a:off x="7424681" y="1493837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 dirty="0">
                <a:latin typeface="Pretendard" panose="020B0503020000020004" pitchFamily="50" charset="-127"/>
                <a:ea typeface="Pretendard" panose="020B0503020000020004" pitchFamily="50" charset="-127"/>
                <a:cs typeface="Pretendard" pitchFamily="18" charset="0"/>
              </a:rPr>
              <a:t>저서</a:t>
            </a:r>
            <a:endParaRPr lang="en-US" altLang="en-US" sz="1200" b="1" dirty="0">
              <a:latin typeface="Pretendard" panose="020B0503020000020004" pitchFamily="50" charset="-127"/>
              <a:ea typeface="Pretendard" panose="020B0503020000020004" pitchFamily="50" charset="-127"/>
              <a:cs typeface="Pretendard" pitchFamily="18" charset="0"/>
            </a:endParaRPr>
          </a:p>
        </p:txBody>
      </p:sp>
      <p:sp>
        <p:nvSpPr>
          <p:cNvPr id="23" name="AutoShape 75"/>
          <p:cNvSpPr>
            <a:spLocks noChangeArrowheads="1"/>
          </p:cNvSpPr>
          <p:nvPr/>
        </p:nvSpPr>
        <p:spPr bwMode="gray">
          <a:xfrm rot="5400000">
            <a:off x="2618029" y="3875391"/>
            <a:ext cx="246063" cy="262526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800" b="1" dirty="0">
                <a:latin typeface="Pretendard" pitchFamily="50" charset="-127"/>
                <a:ea typeface="Pretendard" pitchFamily="50" charset="-127"/>
                <a:cs typeface="Pretendard" pitchFamily="18" charset="0"/>
              </a:rPr>
              <a:t>학력</a:t>
            </a:r>
            <a:endParaRPr lang="en-US" altLang="en-US" sz="800" b="1" dirty="0">
              <a:latin typeface="Pretendard" pitchFamily="50" charset="-127"/>
              <a:ea typeface="Pretendard" pitchFamily="50" charset="-127"/>
              <a:cs typeface="Pretendard" pitchFamily="18" charset="0"/>
            </a:endParaRPr>
          </a:p>
        </p:txBody>
      </p:sp>
      <p:sp>
        <p:nvSpPr>
          <p:cNvPr id="24" name="Text Box 76"/>
          <p:cNvSpPr txBox="1">
            <a:spLocks noChangeArrowheads="1"/>
          </p:cNvSpPr>
          <p:nvPr/>
        </p:nvSpPr>
        <p:spPr bwMode="auto">
          <a:xfrm>
            <a:off x="1493398" y="5460277"/>
            <a:ext cx="3741280" cy="67864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서울과학종합대학원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경영학박사</a:t>
            </a: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(Big Data)</a:t>
            </a: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en-US" altLang="ko-KR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University of Southern California, </a:t>
            </a: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컴퓨터 공학 석사 졸업</a:t>
            </a:r>
            <a:endParaRPr lang="en-US" altLang="ko-KR" sz="900" dirty="0"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서울 공대 원자핵 공학과 졸업</a:t>
            </a:r>
            <a:endParaRPr lang="en-US" altLang="ko-KR" sz="900" dirty="0">
              <a:latin typeface="Pretendard" pitchFamily="50" charset="-127"/>
              <a:ea typeface="Pretendard" pitchFamily="50" charset="-127"/>
            </a:endParaRPr>
          </a:p>
          <a:p>
            <a:pPr marL="114300" indent="-114300">
              <a:spcBef>
                <a:spcPct val="30000"/>
              </a:spcBef>
              <a:buSzPct val="70000"/>
              <a:buBlip>
                <a:blip r:embed="rId3"/>
              </a:buBlip>
              <a:tabLst>
                <a:tab pos="92075" algn="l"/>
              </a:tabLst>
            </a:pPr>
            <a:r>
              <a:rPr lang="ko-KR" altLang="en-US" sz="900" dirty="0">
                <a:latin typeface="Pretendard" pitchFamily="50" charset="-127"/>
                <a:ea typeface="Pretendard" pitchFamily="50" charset="-127"/>
                <a:cs typeface="Pretendard" charset="0"/>
              </a:rPr>
              <a:t>용산고등학교졸업</a:t>
            </a:r>
          </a:p>
        </p:txBody>
      </p:sp>
      <p:sp>
        <p:nvSpPr>
          <p:cNvPr id="25" name="AutoShape 78">
            <a:extLst>
              <a:ext uri="{FF2B5EF4-FFF2-40B4-BE49-F238E27FC236}">
                <a16:creationId xmlns:a16="http://schemas.microsoft.com/office/drawing/2014/main" id="{4647E93B-41E3-4819-9136-CA0E392C9BD6}"/>
              </a:ext>
            </a:extLst>
          </p:cNvPr>
          <p:cNvSpPr>
            <a:spLocks noChangeArrowheads="1"/>
          </p:cNvSpPr>
          <p:nvPr/>
        </p:nvSpPr>
        <p:spPr bwMode="gray">
          <a:xfrm rot="5400000">
            <a:off x="7424680" y="3636382"/>
            <a:ext cx="246063" cy="28231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5BADD"/>
              </a:gs>
              <a:gs pos="100000">
                <a:schemeClr val="bg2"/>
              </a:gs>
            </a:gsLst>
            <a:lin ang="5400000" scaled="1"/>
          </a:gradFill>
          <a:ln w="9525" algn="ctr">
            <a:noFill/>
            <a:round/>
            <a:headEnd/>
            <a:tailEnd/>
          </a:ln>
          <a:effectLst>
            <a:prstShdw prst="shdw17" dist="17961" dir="2700000">
              <a:srgbClr val="75BADD">
                <a:gamma/>
                <a:shade val="60000"/>
                <a:invGamma/>
              </a:srgbClr>
            </a:prstShdw>
          </a:effectLst>
        </p:spPr>
        <p:txBody>
          <a:bodyPr rot="10800000" vert="eaVert" wrap="none" lIns="36000" tIns="46800" rIns="36000" bIns="46800" anchor="ctr"/>
          <a:lstStyle/>
          <a:p>
            <a:pPr indent="133350"/>
            <a:r>
              <a:rPr lang="ko-KR" altLang="en-US" sz="1200" b="1">
                <a:latin typeface="Pretendard" panose="020B0503020000020004" pitchFamily="50" charset="-127"/>
                <a:ea typeface="Pretendard" panose="020B0503020000020004" pitchFamily="50" charset="-127"/>
                <a:cs typeface="Pretendard" pitchFamily="18" charset="0"/>
              </a:rPr>
              <a:t>자격증</a:t>
            </a:r>
            <a:endParaRPr lang="en-US" altLang="en-US" sz="1200" b="1" dirty="0">
              <a:latin typeface="Pretendard" panose="020B0503020000020004" pitchFamily="50" charset="-127"/>
              <a:ea typeface="Pretendard" panose="020B0503020000020004" pitchFamily="50" charset="-127"/>
              <a:cs typeface="Pretendard" pitchFamily="18" charset="0"/>
            </a:endParaRPr>
          </a:p>
        </p:txBody>
      </p:sp>
      <p:pic>
        <p:nvPicPr>
          <p:cNvPr id="4" name="그림 3" descr="스크린샷이(가) 표시된 사진&#10;&#10;자동 생성된 설명">
            <a:extLst>
              <a:ext uri="{FF2B5EF4-FFF2-40B4-BE49-F238E27FC236}">
                <a16:creationId xmlns:a16="http://schemas.microsoft.com/office/drawing/2014/main" id="{9128D67E-74FA-4CEB-960F-9166C6E528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5307" y="5207560"/>
            <a:ext cx="1730341" cy="1327797"/>
          </a:xfrm>
          <a:prstGeom prst="rect">
            <a:avLst/>
          </a:prstGeom>
        </p:spPr>
      </p:pic>
      <p:sp>
        <p:nvSpPr>
          <p:cNvPr id="9" name="Text Box 82">
            <a:extLst>
              <a:ext uri="{FF2B5EF4-FFF2-40B4-BE49-F238E27FC236}">
                <a16:creationId xmlns:a16="http://schemas.microsoft.com/office/drawing/2014/main" id="{C1809002-A69A-46FB-B0B9-E40F3BD68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786" y="5655186"/>
            <a:ext cx="1993910" cy="76328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ko-KR" altLang="en-US" sz="8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구글 텐서플로우</a:t>
            </a:r>
            <a:r>
              <a:rPr lang="en-US" altLang="ko-KR" sz="8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(AI)</a:t>
            </a:r>
            <a:r>
              <a:rPr lang="ko-KR" altLang="en-US" sz="800" dirty="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 개발자 자격증</a:t>
            </a:r>
            <a:endParaRPr lang="en-US" altLang="ko-KR" sz="800" dirty="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en-US" altLang="ko-KR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2020.5.10 </a:t>
            </a:r>
            <a:r>
              <a:rPr lang="ko-KR" altLang="en-US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합격</a:t>
            </a:r>
            <a:endParaRPr lang="en-US" altLang="ko-KR" sz="80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endParaRPr lang="en-US" altLang="ko-KR" sz="80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ko-KR" altLang="en-US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연락처</a:t>
            </a:r>
            <a:r>
              <a:rPr lang="en-US" altLang="ko-KR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: 010-5259-9509</a:t>
            </a:r>
          </a:p>
          <a:p>
            <a:pPr fontAlgn="t">
              <a:spcBef>
                <a:spcPct val="30000"/>
              </a:spcBef>
              <a:buSzPct val="70000"/>
              <a:tabLst>
                <a:tab pos="92075" algn="l"/>
              </a:tabLst>
            </a:pPr>
            <a:r>
              <a:rPr lang="en-US" altLang="ko-KR" sz="800">
                <a:solidFill>
                  <a:srgbClr val="000000"/>
                </a:solidFill>
                <a:latin typeface="Pretendard" pitchFamily="50" charset="-127"/>
                <a:ea typeface="Pretendard" pitchFamily="50" charset="-127"/>
                <a:cs typeface="Pretendard" charset="0"/>
              </a:rPr>
              <a:t>donchang0725@gmail.com</a:t>
            </a:r>
            <a:endParaRPr lang="en-US" altLang="ko-KR" sz="900">
              <a:solidFill>
                <a:srgbClr val="000000"/>
              </a:solidFill>
              <a:latin typeface="Pretendard" pitchFamily="50" charset="-127"/>
              <a:ea typeface="Pretendard" pitchFamily="50" charset="-127"/>
              <a:cs typeface="Pretendard" charset="0"/>
            </a:endParaRPr>
          </a:p>
        </p:txBody>
      </p:sp>
      <p:sp>
        <p:nvSpPr>
          <p:cNvPr id="29" name="제목 1">
            <a:extLst>
              <a:ext uri="{FF2B5EF4-FFF2-40B4-BE49-F238E27FC236}">
                <a16:creationId xmlns:a16="http://schemas.microsoft.com/office/drawing/2014/main" id="{367568EC-1F92-49C9-841E-AE80E25B604C}"/>
              </a:ext>
            </a:extLst>
          </p:cNvPr>
          <p:cNvSpPr txBox="1">
            <a:spLocks/>
          </p:cNvSpPr>
          <p:nvPr/>
        </p:nvSpPr>
        <p:spPr>
          <a:xfrm>
            <a:off x="1524000" y="217630"/>
            <a:ext cx="8610600" cy="4572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ctr"/>
            <a:r>
              <a:rPr lang="en-US" altLang="ko-KR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“</a:t>
            </a:r>
            <a:r>
              <a:rPr lang="ko-KR" altLang="en-US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기업과 </a:t>
            </a:r>
            <a:r>
              <a:rPr lang="en-US" altLang="ko-KR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AI</a:t>
            </a:r>
            <a:r>
              <a:rPr lang="ko-KR" altLang="en-US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를 아는 교수</a:t>
            </a:r>
            <a:r>
              <a:rPr lang="en-US" altLang="ko-KR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“ </a:t>
            </a:r>
            <a:r>
              <a:rPr lang="ko-KR" altLang="en-US" sz="2400" b="1">
                <a:latin typeface="Pretendard" panose="020B0503020000020004" pitchFamily="50" charset="-127"/>
                <a:ea typeface="Pretendard" panose="020B0503020000020004" pitchFamily="50" charset="-127"/>
              </a:rPr>
              <a:t>장 동 인</a:t>
            </a:r>
            <a:endParaRPr lang="ko-KR" altLang="en-US" sz="2400" b="1" dirty="0">
              <a:latin typeface="Pretendard" panose="020B0503020000020004" pitchFamily="50" charset="-127"/>
              <a:ea typeface="Pretendard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48F81D-0AAE-4B54-9BBB-2BF4C59261C2}"/>
              </a:ext>
            </a:extLst>
          </p:cNvPr>
          <p:cNvSpPr/>
          <p:nvPr/>
        </p:nvSpPr>
        <p:spPr>
          <a:xfrm>
            <a:off x="0" y="0"/>
            <a:ext cx="3048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"/>
              <a:ea typeface="Pretendard"/>
            </a:endParaRPr>
          </a:p>
        </p:txBody>
      </p:sp>
      <p:pic>
        <p:nvPicPr>
          <p:cNvPr id="33" name="그림 32" descr="공피고아1.jpg">
            <a:extLst>
              <a:ext uri="{FF2B5EF4-FFF2-40B4-BE49-F238E27FC236}">
                <a16:creationId xmlns:a16="http://schemas.microsoft.com/office/drawing/2014/main" id="{06BE0365-8A99-4934-A48E-792DB7F1217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745927" y="3177657"/>
            <a:ext cx="840520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08BBA4B6-4987-42EF-8F13-727082EC2F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741761" y="4503512"/>
            <a:ext cx="844686" cy="1113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ED91DB7B-0B6E-4BCE-8A28-25F5A38656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328" y="3177657"/>
            <a:ext cx="754342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E56E2C6-7D19-4CC6-8C5A-6026070A4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9925" y="3177657"/>
            <a:ext cx="753146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그림 36" descr="텍스트, 화이트보드이(가) 표시된 사진&#10;&#10;자동 생성된 설명">
            <a:extLst>
              <a:ext uri="{FF2B5EF4-FFF2-40B4-BE49-F238E27FC236}">
                <a16:creationId xmlns:a16="http://schemas.microsoft.com/office/drawing/2014/main" id="{47D50C41-8B8A-4099-A3F5-1A65377FEC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60" y="3177657"/>
            <a:ext cx="822708" cy="1113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 descr="인간의 얼굴, 미소, 사람, 인물사진이(가) 표시된 사진&#10;&#10;자동 생성된 설명">
            <a:extLst>
              <a:ext uri="{FF2B5EF4-FFF2-40B4-BE49-F238E27FC236}">
                <a16:creationId xmlns:a16="http://schemas.microsoft.com/office/drawing/2014/main" id="{916139AB-DE78-F27F-1465-F180D60F9A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4721" y="-15308"/>
            <a:ext cx="1123763" cy="13634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2C9D496-F698-D5FB-4733-890FC25106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0802" y="3165430"/>
            <a:ext cx="767132" cy="11383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991447-524D-1E52-EF9A-8BFCDF20C0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4195" y="3177657"/>
            <a:ext cx="847349" cy="111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4247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970531"/>
            <a:ext cx="7315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3A86FF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1970531"/>
            <a:ext cx="5120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결정 요청과 현재의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592323"/>
            <a:ext cx="7315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3A86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592323"/>
            <a:ext cx="5120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해결 체계와 기술 타당성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214115"/>
            <a:ext cx="7315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3A86FF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214115"/>
            <a:ext cx="5120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수행 원칙과 주체별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835907"/>
            <a:ext cx="7315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3A86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835907"/>
            <a:ext cx="5120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업무 분장과 12개월 일정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457699"/>
            <a:ext cx="7315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3A86FF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457699"/>
            <a:ext cx="5120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투입 공수와 AI 역량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079491"/>
            <a:ext cx="7315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3A86FF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5079491"/>
            <a:ext cx="51206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l"/>
            <a:r>
              <a:rPr sz="18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게이트, 리스크, 승인 후 첫 4주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대표님께 요청드리는 결정은 세 가지입니다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72868"/>
            <a:ext cx="3474720" cy="1874519"/>
          </a:xfrm>
          <a:prstGeom prst="rect">
            <a:avLst/>
          </a:prstGeom>
          <a:solidFill>
            <a:srgbClr val="FFF4E8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①  인력 확보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시뮬레이터 전담 2명 (100%)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핵심 개발자 3명 (40~60%)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TF로 차출</a:t>
            </a:r>
          </a:p>
          <a:p>
            <a:pPr algn="ctr">
              <a:spcAft>
                <a:spcPts val="400"/>
              </a:spcAft>
            </a:pPr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성패를 가장 크게 좌우</a:t>
            </a:r>
          </a:p>
        </p:txBody>
      </p:sp>
      <p:sp>
        <p:nvSpPr>
          <p:cNvPr id="5" name="Rectangle 4"/>
          <p:cNvSpPr/>
          <p:nvPr/>
        </p:nvSpPr>
        <p:spPr>
          <a:xfrm>
            <a:off x="4425696" y="2372868"/>
            <a:ext cx="3474720" cy="1874519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②  파일럿 고객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고객 1곳 선정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골든 이미지 사용 협의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보안 등급이 낮은 곳 우선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8165592" y="2372868"/>
            <a:ext cx="3474720" cy="1874519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③  외부 계약 범위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bkit 저자: 공정 도구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브레인크루: PoC 후 결정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AI 컨설턴트: 설계·교육</a:t>
            </a:r>
          </a:p>
        </p:txBody>
      </p:sp>
      <p:sp>
        <p:nvSpPr>
          <p:cNvPr id="7" name="NarrativeHeadline"/>
          <p:cNvSpPr txBox="1"/>
          <p:nvPr/>
        </p:nvSpPr>
        <p:spPr>
          <a:xfrm>
            <a:off x="859536" y="4567428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세 가지 중 성패를 가장 크게 좌우하는 것은 핵심 개발자의 시간 확보입니다.</a:t>
            </a:r>
          </a:p>
        </p:txBody>
      </p:sp>
      <p:sp>
        <p:nvSpPr>
          <p:cNvPr id="8" name="NarrativeDetail"/>
          <p:cNvSpPr txBox="1"/>
          <p:nvPr/>
        </p:nvSpPr>
        <p:spPr>
          <a:xfrm>
            <a:off x="859536" y="4860036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투입률이 20% 이하로 떨어지면 일정이 3~6개월 늘어날 수 있으므로 착수 전(G0)에 문서로 확정합니다.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지금은 업그레이드 검증이 클린룸에서만 가능합니다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906524"/>
            <a:ext cx="2606040" cy="96012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소스 구조</a:t>
            </a:r>
          </a:p>
          <a:p>
            <a:pPr algn="ctr">
              <a:spcAft>
                <a:spcPts val="2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고객사별로 소스가 다름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3438144" y="1906524"/>
            <a:ext cx="2606040" cy="96012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업그레이드 유형</a:t>
            </a:r>
          </a:p>
          <a:p>
            <a:pPr algn="ctr">
              <a:spcAft>
                <a:spcPts val="2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검사기능 7 : 호스트 연동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1928" y="1906524"/>
            <a:ext cx="2606040" cy="96012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보안 조건</a:t>
            </a:r>
          </a:p>
          <a:p>
            <a:pPr algn="ctr">
              <a:spcAft>
                <a:spcPts val="2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고객사별로 매우 엄격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9125712" y="1906524"/>
            <a:ext cx="2606040" cy="96012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2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지식 분포</a:t>
            </a:r>
          </a:p>
          <a:p>
            <a:pPr algn="ctr">
              <a:spcAft>
                <a:spcPts val="2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핵심 개발자 약 20명에 집중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86684"/>
            <a:ext cx="1113739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현재 업그레이드 한 건의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" y="3570731"/>
            <a:ext cx="233172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소스 직접 수정</a:t>
            </a:r>
          </a:p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사무실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35808" y="3959351"/>
            <a:ext cx="457200" cy="0"/>
          </a:xfrm>
          <a:prstGeom prst="line">
            <a:avLst/>
          </a:prstGeom>
          <a:ln w="19050">
            <a:solidFill>
              <a:srgbClr val="7F8FA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547872" y="3570731"/>
            <a:ext cx="2331720" cy="77724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설치·기능 확인</a:t>
            </a:r>
          </a:p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고객 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34456" y="3959351"/>
            <a:ext cx="457200" cy="0"/>
          </a:xfrm>
          <a:prstGeom prst="line">
            <a:avLst/>
          </a:prstGeom>
          <a:ln w="19050">
            <a:solidFill>
              <a:srgbClr val="7F8FA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46520" y="3570731"/>
            <a:ext cx="2331720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355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355C7D"/>
                </a:solidFill>
                <a:latin typeface="Pretendard"/>
                <a:ea typeface="Pretendard"/>
                <a:cs typeface="Pretendard"/>
              </a:rPr>
              <a:t>현장 수정 반복</a:t>
            </a:r>
          </a:p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고객 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33104" y="3959351"/>
            <a:ext cx="457200" cy="0"/>
          </a:xfrm>
          <a:prstGeom prst="line">
            <a:avLst/>
          </a:prstGeom>
          <a:ln w="19050">
            <a:solidFill>
              <a:srgbClr val="7F8FA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345168" y="3570731"/>
            <a:ext cx="2331720" cy="777240"/>
          </a:xfrm>
          <a:prstGeom prst="rect">
            <a:avLst/>
          </a:prstGeom>
          <a:solidFill>
            <a:srgbClr val="EEF2F6"/>
          </a:solidFill>
          <a:ln w="12700">
            <a:solidFill>
              <a:srgbClr val="355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355C7D"/>
                </a:solidFill>
                <a:latin typeface="Pretendard"/>
                <a:ea typeface="Pretendard"/>
                <a:cs typeface="Pretendard"/>
              </a:rPr>
              <a:t>재방문</a:t>
            </a:r>
          </a:p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고객 팹</a:t>
            </a:r>
          </a:p>
        </p:txBody>
      </p:sp>
      <p:sp>
        <p:nvSpPr>
          <p:cNvPr id="16" name="NarrativeHeadline"/>
          <p:cNvSpPr txBox="1"/>
          <p:nvPr/>
        </p:nvSpPr>
        <p:spPr>
          <a:xfrm>
            <a:off x="859536" y="4668011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병목은 코드 작성이 아니라 검증과 지식입니다.</a:t>
            </a:r>
          </a:p>
        </p:txBody>
      </p:sp>
      <p:sp>
        <p:nvSpPr>
          <p:cNvPr id="17" name="NarrativeDetail"/>
          <p:cNvSpPr txBox="1"/>
          <p:nvPr/>
        </p:nvSpPr>
        <p:spPr>
          <a:xfrm>
            <a:off x="859536" y="4960619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AI 코딩 도구만 도입하면 코드는 빨라져도 검증은 여전히 현장에서만 가능해 안정성이 떨어질 수 있습니다.</a:t>
            </a:r>
          </a:p>
        </p:txBody>
      </p:sp>
      <p:sp>
        <p:nvSpPr>
          <p:cNvPr id="18" name="Source"/>
          <p:cNvSpPr txBox="1"/>
          <p:nvPr/>
        </p:nvSpPr>
        <p:spPr>
          <a:xfrm>
            <a:off x="594360" y="6419088"/>
            <a:ext cx="8229600" cy="201168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/>
            <a:r>
              <a:rPr sz="10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출처: 인텍플러스 대표 면담(2026.10.09)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업그레이드는 PRD에서 시작해 시뮬레이터를 통과합니다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04287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400" b="1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브레인크루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59"/>
            <a:ext cx="1828800" cy="105156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문서 입력</a:t>
            </a:r>
          </a:p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요청·사양서 파싱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06040" y="3177539"/>
            <a:ext cx="338328" cy="0"/>
          </a:xfrm>
          <a:prstGeom prst="line">
            <a:avLst/>
          </a:prstGeom>
          <a:ln w="1905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990088" y="2304287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400" b="1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bkit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90088" y="2651759"/>
            <a:ext cx="1828800" cy="105156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PRD 공장</a:t>
            </a:r>
          </a:p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요청 → PRD 변경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64608" y="3177539"/>
            <a:ext cx="338328" cy="0"/>
          </a:xfrm>
          <a:prstGeom prst="line">
            <a:avLst/>
          </a:prstGeom>
          <a:ln w="1905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48656" y="2304287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400" b="1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AI 에이전트 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8656" y="2651759"/>
            <a:ext cx="1828800" cy="105156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증분 공장</a:t>
            </a:r>
          </a:p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PRD → 코드 증분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23176" y="3177539"/>
            <a:ext cx="338328" cy="0"/>
          </a:xfrm>
          <a:prstGeom prst="line">
            <a:avLst/>
          </a:prstGeom>
          <a:ln w="1905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07224" y="2304287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인텍 내부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07224" y="2651759"/>
            <a:ext cx="1828800" cy="1051560"/>
          </a:xfrm>
          <a:prstGeom prst="rect">
            <a:avLst/>
          </a:prstGeom>
          <a:solidFill>
            <a:srgbClr val="FFF4E8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시뮬레이터</a:t>
            </a:r>
          </a:p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사무실 합격 판정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81744" y="3177539"/>
            <a:ext cx="338328" cy="0"/>
          </a:xfrm>
          <a:prstGeom prst="line">
            <a:avLst/>
          </a:prstGeom>
          <a:ln w="1905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765792" y="2304287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400" b="1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인텍 내부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65792" y="2651759"/>
            <a:ext cx="1828800" cy="105156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배포·롤백</a:t>
            </a:r>
          </a:p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합격본만 설치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21624" y="3703318"/>
            <a:ext cx="0" cy="384048"/>
          </a:xfrm>
          <a:prstGeom prst="line">
            <a:avLst/>
          </a:prstGeom>
          <a:ln w="1905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163056" y="4087366"/>
            <a:ext cx="2258568" cy="0"/>
          </a:xfrm>
          <a:prstGeom prst="line">
            <a:avLst/>
          </a:prstGeom>
          <a:ln w="1905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163056" y="3703318"/>
            <a:ext cx="0" cy="384048"/>
          </a:xfrm>
          <a:prstGeom prst="line">
            <a:avLst/>
          </a:prstGeom>
          <a:ln w="19050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14416" y="4123942"/>
            <a:ext cx="335584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400" b="0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불합격 시 AI가 증분을 다시 생성</a:t>
            </a:r>
          </a:p>
        </p:txBody>
      </p:sp>
      <p:sp>
        <p:nvSpPr>
          <p:cNvPr id="22" name="NarrativeHeadline"/>
          <p:cNvSpPr txBox="1"/>
          <p:nvPr/>
        </p:nvSpPr>
        <p:spPr>
          <a:xfrm>
            <a:off x="859536" y="4636007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다섯 단계를 잇는 것은 Git에 있는 PRD 하나입니다.</a:t>
            </a:r>
          </a:p>
        </p:txBody>
      </p:sp>
      <p:sp>
        <p:nvSpPr>
          <p:cNvPr id="23" name="NarrativeDetail"/>
          <p:cNvSpPr txBox="1"/>
          <p:nvPr/>
        </p:nvSpPr>
        <p:spPr>
          <a:xfrm>
            <a:off x="859536" y="4928614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AI는 PRD 변경분만큼 증분을 만들고, 시뮬레이터에 합격한 빌드만 고객 장비에 설치합니다.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고객사에 설치되는 것은 플랫폼 하나뿐입니다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90232" y="2464308"/>
          <a:ext cx="7748695" cy="1645920"/>
        </p:xfrm>
        <a:graphic>
          <a:graphicData uri="http://schemas.openxmlformats.org/drawingml/2006/table">
            <a:tbl>
              <a:tblPr firstRow="0" bandRow="0"/>
              <a:tblGrid>
                <a:gridCol w="1261346"/>
                <a:gridCol w="1627930"/>
                <a:gridCol w="1866850"/>
                <a:gridCol w="1469558"/>
                <a:gridCol w="1523009"/>
              </a:tblGrid>
              <a:tr h="329184"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① PRD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② 범용 플랫폼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③ 시뮬레이터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④ 배포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정체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요구사항·합격 기준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장비 소프트웨어(제품)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시험 환경(도구)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설치·롤백 절차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위치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Git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고객사 장비 안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사무실·랩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사무실 → 고객 팹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업그레이드 때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사람이 고침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AI가 증분 생성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합격·불합격 판정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합격본만 설치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비유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설계도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건물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준공 검사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입주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arrativeHeadline"/>
          <p:cNvSpPr txBox="1"/>
          <p:nvPr/>
        </p:nvSpPr>
        <p:spPr>
          <a:xfrm>
            <a:off x="859536" y="4475987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시뮬레이터는 고객 장비의 주변 환경을 흉내 내는 검증 도구입니다.</a:t>
            </a:r>
          </a:p>
        </p:txBody>
      </p:sp>
      <p:sp>
        <p:nvSpPr>
          <p:cNvPr id="6" name="NarrativeDetail"/>
          <p:cNvSpPr txBox="1"/>
          <p:nvPr/>
        </p:nvSpPr>
        <p:spPr>
          <a:xfrm>
            <a:off x="859536" y="4768595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시뮬레이터는 고객사에 가지 않습니다. 망분리 고객에게만 검증용 반입 키트로 들어갑니다.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AI가 고치는 범위는 자주 바뀌는 영역으로 한정합니다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94992" y="2130552"/>
          <a:ext cx="7939176" cy="1947672"/>
        </p:xfrm>
        <a:graphic>
          <a:graphicData uri="http://schemas.openxmlformats.org/drawingml/2006/table">
            <a:tbl>
              <a:tblPr firstRow="0" bandRow="0"/>
              <a:tblGrid>
                <a:gridCol w="979995"/>
                <a:gridCol w="3243268"/>
                <a:gridCol w="1928701"/>
                <a:gridCol w="1787210"/>
              </a:tblGrid>
              <a:tr h="329184"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바뀌는 이유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관리 방식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PRD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레시피·검사 항목, 판정 기준, 불량 분류,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호스트·MES 연동, 물류·출하, 화면·리포트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신규 패키지, 품질 기준,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과검 개선, MES 정책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증분 자동 생성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시뮬레이터 합격 필수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제품 PRD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신규 검사 모듈(CoWoS·유리기판),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핸들링 옵션(Tape &amp; Reel 등)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업계 공통 신제품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사람 주도, AI 보조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355C7D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PRD 제외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3D 측정 원리, 광학 보정, 영상 획득,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모션·안전, SECS/GEM 통신 엔진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물리·기구·SEMI 표준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355C7D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자동 수정 금지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355C7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회귀 시험으로 보호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5" name="NarrativeHeadline"/>
          <p:cNvSpPr txBox="1"/>
          <p:nvPr/>
        </p:nvSpPr>
        <p:spPr>
          <a:xfrm>
            <a:off x="859536" y="4443984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측정 원리·광학·기구·안전·통신 엔진은 AI 자동 수정에서 제외합니다.</a:t>
            </a:r>
          </a:p>
        </p:txBody>
      </p:sp>
      <p:sp>
        <p:nvSpPr>
          <p:cNvPr id="6" name="NarrativeDetail"/>
          <p:cNvSpPr txBox="1"/>
          <p:nvPr/>
        </p:nvSpPr>
        <p:spPr>
          <a:xfrm>
            <a:off x="859536" y="4736591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이 구분은 산업 구조에서 도출한 가설이며, 0단계 워크숍에서 제품군별로 확정합니다.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94360" y="6419088"/>
            <a:ext cx="8229600" cy="201168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/>
            <a:r>
              <a:rPr sz="10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출처: 인텍플러스 제품 정보(홈페이지, 2026.10.09 확인), 반도체 패키징 검사 산업 구조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역생성 PRD와 정확한 증분은 검증이 있어야 가능합니다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81489" y="2400300"/>
          <a:ext cx="8566181" cy="1408176"/>
        </p:xfrm>
        <a:graphic>
          <a:graphicData uri="http://schemas.openxmlformats.org/drawingml/2006/table">
            <a:tbl>
              <a:tblPr firstRow="0" bandRow="0"/>
              <a:tblGrid>
                <a:gridCol w="2029721"/>
                <a:gridCol w="3093110"/>
                <a:gridCol w="3443349"/>
              </a:tblGrid>
              <a:tr h="329184"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정확성을 확보하는 장치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① 고객별 소스를 역으로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PRD화할 수 있는가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563E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부분적으로 가능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563EB"/>
                          </a:solidFill>
                          <a:latin typeface="Pretendard"/>
                          <a:ea typeface="Pretendard"/>
                          <a:cs typeface="Pretendard"/>
                        </a:rPr>
                        <a:t>드러난 동작은 복원, 이유·타이밍은 취약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요구사항마다 근거 위치·신뢰도 표시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시뮬레이터 동작 기록과 대조해 확정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② PRD를 바꾸면 증분만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정확히 만들 수 있는가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563EB"/>
                          </a:solidFill>
                          <a:latin typeface="Pretendard"/>
                          <a:ea typeface="Pretendard"/>
                          <a:cs typeface="Pretendard"/>
                        </a:rPr>
                        <a:t>조건부 가능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563EB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생성 자체는 매번 조금씩 다름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요구사항↔코드 추적표로 범위 밖 수정 차단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합격 기준과 기존 회귀 시험 모두 통과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arrativeHeadline"/>
          <p:cNvSpPr txBox="1"/>
          <p:nvPr/>
        </p:nvSpPr>
        <p:spPr>
          <a:xfrm>
            <a:off x="859536" y="4174236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정확성은 AI 생성이 아니라 하네스의 검증에서 나옵니다.</a:t>
            </a:r>
          </a:p>
        </p:txBody>
      </p:sp>
      <p:sp>
        <p:nvSpPr>
          <p:cNvPr id="6" name="NarrativeDetail"/>
          <p:cNvSpPr txBox="1"/>
          <p:nvPr/>
        </p:nvSpPr>
        <p:spPr>
          <a:xfrm>
            <a:off x="859536" y="4466843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검증은 시험이 덮는 범위까지만 증명하므로, 현장 최종 확인은 계속 필요합니다.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94360" y="6419088"/>
            <a:ext cx="8229600" cy="201168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/>
            <a:r>
              <a:rPr sz="10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참고: arXiv 2605.18684 (Reversa), arXiv 2609.22719 (2026) — 역생성 명세는 실행 검증 전까지 신뢰하지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과거 업그레이드 재현 시험으로 데이터로 판정합니다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37943"/>
            <a:ext cx="5349240" cy="160020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실험 1 · 역생성 정확도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고객 1곳의 GEM 모듈·검사 항목을 AI로 PRD화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핵심 개발자 검토 + 시뮬레이터 기록과 대조</a:t>
            </a:r>
          </a:p>
          <a:p>
            <a:pPr algn="ctr">
              <a:spcAft>
                <a:spcPts val="4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측정: 담긴 동작 비율 · 틀린 기술 · 추정·빈칸 비율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1837943"/>
            <a:ext cx="5349240" cy="1600200"/>
          </a:xfrm>
          <a:prstGeom prst="rect">
            <a:avLst/>
          </a:prstGeom>
          <a:solidFill>
            <a:srgbClr val="FFF4E8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실험 2 · 증분 정확도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과거 업그레이드 5~10건을 이전 소스와</a:t>
            </a:r>
          </a:p>
          <a:p>
            <a:pPr algn="ctr">
              <a:spcAft>
                <a:spcPts val="4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PRD 변경분만으로 AI가 재현</a:t>
            </a:r>
          </a:p>
          <a:p>
            <a:pPr algn="ctr">
              <a:spcAft>
                <a:spcPts val="4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측정: 합격 기준 통과 · 범위 밖 수정·회귀 0건 · 반복 편차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730750"/>
            <a:ext cx="1113739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변경 유형별 예상 정확도 (추정)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4096511"/>
            <a:ext cx="2606040" cy="68580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판정 기준·레시피 값</a:t>
            </a:r>
          </a:p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매우 높음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3438144" y="4096511"/>
            <a:ext cx="2606040" cy="68580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GEM 보고 항목 추가</a:t>
            </a:r>
          </a:p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높음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4096511"/>
            <a:ext cx="2606040" cy="68580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검사 항목 조합 추가</a:t>
            </a:r>
          </a:p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보통~높음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25712" y="4096511"/>
            <a:ext cx="2606040" cy="68580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신규 알고리즘</a:t>
            </a:r>
          </a:p>
          <a:p>
            <a:pPr algn="ctr"/>
            <a:r>
              <a:rPr sz="1400" b="1" lang="ko-KR" altLang="en-US">
                <a:solidFill>
                  <a:srgbClr val="355C7D"/>
                </a:solidFill>
                <a:latin typeface="Pretendard"/>
                <a:ea typeface="Pretendard"/>
                <a:cs typeface="Pretendard"/>
              </a:rPr>
              <a:t>낮음 · 사람 주도</a:t>
            </a:r>
          </a:p>
        </p:txBody>
      </p:sp>
      <p:sp>
        <p:nvSpPr>
          <p:cNvPr id="11" name="NarrativeHeadline"/>
          <p:cNvSpPr txBox="1"/>
          <p:nvPr/>
        </p:nvSpPr>
        <p:spPr>
          <a:xfrm>
            <a:off x="859536" y="5102351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정답지는 이미 있습니다. 과거 업그레이드 때 실제로 바뀐 소스입니다.</a:t>
            </a:r>
          </a:p>
        </p:txBody>
      </p:sp>
      <p:sp>
        <p:nvSpPr>
          <p:cNvPr id="12" name="NarrativeDetail"/>
          <p:cNvSpPr txBox="1"/>
          <p:nvPr/>
        </p:nvSpPr>
        <p:spPr>
          <a:xfrm>
            <a:off x="859536" y="5394958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4~6주 시험 결과를 G1 판정 기준에 넣고, 변경 유형별로 AI 자동화 범위를 정합니다.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외부는 도구와 방법을, 내부는 판단과 기준을 맡습니다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075687"/>
            <a:ext cx="5349240" cy="50292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외부 주체: 도구와 방법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12" y="2075687"/>
            <a:ext cx="5349240" cy="502920"/>
          </a:xfrm>
          <a:prstGeom prst="rect">
            <a:avLst/>
          </a:prstGeom>
          <a:solidFill>
            <a:srgbClr val="FFF4E8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/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인텍 내부: 판단과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61487"/>
            <a:ext cx="48006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bkit 저자  </a:t>
            </a: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공정·합격 게이트 도구</a:t>
            </a:r>
          </a:p>
          <a:p>
            <a:pPr algn="l">
              <a:spcAft>
                <a:spcPts val="10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브레인크루  </a:t>
            </a: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문서 입력·지식베이스</a:t>
            </a:r>
          </a:p>
          <a:p>
            <a:pPr algn="l">
              <a:spcAft>
                <a:spcPts val="10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AI 컨설턴트  </a:t>
            </a: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에이전트 설계·교육·코칭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6832" y="2761487"/>
            <a:ext cx="48006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시뮬레이터 코어와 HAL</a:t>
            </a:r>
          </a:p>
          <a:p>
            <a:pPr algn="l">
              <a:spcAft>
                <a:spcPts val="6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골든 이미지셋과 판정 기준</a:t>
            </a:r>
          </a:p>
          <a:p>
            <a:pPr algn="l">
              <a:spcAft>
                <a:spcPts val="6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변경 지도 확정</a:t>
            </a:r>
          </a:p>
          <a:p>
            <a:pPr algn="l">
              <a:spcAft>
                <a:spcPts val="6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PRD·배포 최종 승인</a:t>
            </a:r>
          </a:p>
          <a:p>
            <a:pPr algn="l">
              <a:spcAft>
                <a:spcPts val="6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보안 등급 B·C 고객 데이터</a:t>
            </a:r>
          </a:p>
        </p:txBody>
      </p:sp>
      <p:sp>
        <p:nvSpPr>
          <p:cNvPr id="8" name="NarrativeHeadline"/>
          <p:cNvSpPr txBox="1"/>
          <p:nvPr/>
        </p:nvSpPr>
        <p:spPr>
          <a:xfrm>
            <a:off x="859536" y="4864607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시뮬레이터 핵심 업무는 장비 물리·고객 공정·고객 데이터를 알아야 해 내부만 할 수 있습니다.</a:t>
            </a:r>
          </a:p>
        </p:txBody>
      </p:sp>
      <p:sp>
        <p:nvSpPr>
          <p:cNvPr id="9" name="NarrativeDetail"/>
          <p:cNvSpPr txBox="1"/>
          <p:nvPr/>
        </p:nvSpPr>
        <p:spPr>
          <a:xfrm>
            <a:off x="859536" y="5157214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시뮬레이터 개발도 인텍 엔지니어가 AI 코딩 도구로 하고, AI 컨설턴트는 매주 코칭만 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핵심 자산은 인텍 내부 TF가 소유합니다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20794" y="2135124"/>
          <a:ext cx="8887572" cy="2304288"/>
        </p:xfrm>
        <a:graphic>
          <a:graphicData uri="http://schemas.openxmlformats.org/drawingml/2006/table">
            <a:tbl>
              <a:tblPr firstRow="0" bandRow="0"/>
              <a:tblGrid>
                <a:gridCol w="1668895"/>
                <a:gridCol w="4734823"/>
                <a:gridCol w="1437611"/>
                <a:gridCol w="1046241"/>
              </a:tblGrid>
              <a:tr h="329184"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주체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역할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공수(MM)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내부 TF (8명)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시뮬레이터·HAL, 골든셋·판정 기준, 변경 지도, PRD·배포 승인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48~57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bkit 저자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장비용 bkit: PRD 템플릿, 시뮬레이터 연동, 가드레일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M2~M6 + 지원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3~5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브레인크루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GEM 사양서·문서 파싱, 지식베이스, 망분리 설치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PoC 후 결정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7~12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컨설턴트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harness 에이전트 팀, 보안 설계, 교육·코칭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5~7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 (장동인)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설계·통합, 주체 간 규격, 게이트·KPI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2.5~5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경영진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인력 확보, 파일럿 고객 협의, 게이트 승인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 1회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arrativeHeadline"/>
          <p:cNvSpPr txBox="1"/>
          <p:nvPr/>
        </p:nvSpPr>
        <p:spPr>
          <a:xfrm>
            <a:off x="859536" y="4805172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전체 공수의 약 2/3 이상이 인텍 내부에 투입됩니다.</a:t>
            </a:r>
          </a:p>
        </p:txBody>
      </p:sp>
      <p:sp>
        <p:nvSpPr>
          <p:cNvPr id="6" name="NarrativeDetail"/>
          <p:cNvSpPr txBox="1"/>
          <p:nvPr/>
        </p:nvSpPr>
        <p:spPr>
          <a:xfrm>
            <a:off x="859536" y="5097780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실패는 주체 사이의 경계에서 생기므로 PM이 PRD·시뮬레이터 결과·Git 흐름 규격을 먼저 정합니다.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인텍 내부 TF는 8명으로 구성합니다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17932" y="2299715"/>
          <a:ext cx="7893296" cy="1975104"/>
        </p:xfrm>
        <a:graphic>
          <a:graphicData uri="http://schemas.openxmlformats.org/drawingml/2006/table">
            <a:tbl>
              <a:tblPr firstRow="0" bandRow="0"/>
              <a:tblGrid>
                <a:gridCol w="1580980"/>
                <a:gridCol w="1388659"/>
                <a:gridCol w="4923656"/>
              </a:tblGrid>
              <a:tr h="329184"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역할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인원·투입률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맡는 일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TF 리더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1명 · 60%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내부 총괄, PRD·배포 최종 승인, 변경 지도 확정 주도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시뮬레이터 전담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2명 · 100%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HAL, 이미지 재생(L2), 가상 호스트·물류(L1), 랩(L3), 반입 키트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개발자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2명 · 40~60%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PRD 확정, 도메인 스킬 작성, AI 증분 리뷰, 검사 엔진 공통화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고객대응 엔지니어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2명 · 20~30%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요청을 PRD 초안으로 정리, 현장 설치·최종 확인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엔지니어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1명 · 50%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골든 이미지셋 선정·관리, 기대 판정 정의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5" name="NarrativeHeadline"/>
          <p:cNvSpPr txBox="1"/>
          <p:nvPr/>
        </p:nvSpPr>
        <p:spPr>
          <a:xfrm>
            <a:off x="859536" y="4640579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시뮬레이터 전담 2명은 기존 업무에서 완전히 빼야 합니다.</a:t>
            </a:r>
          </a:p>
        </p:txBody>
      </p:sp>
      <p:sp>
        <p:nvSpPr>
          <p:cNvPr id="6" name="NarrativeDetail"/>
          <p:cNvSpPr txBox="1"/>
          <p:nvPr/>
        </p:nvSpPr>
        <p:spPr>
          <a:xfrm>
            <a:off x="859536" y="4933187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핵심 개발자의 역할은 코드 작성에서 PRD 확정과 승인으로 바뀌며, 처음 3개월은 AI 도구를 배웁니다.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업무별 책임 분장 (RACI)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19220" y="1476755"/>
          <a:ext cx="6690720" cy="3621024"/>
        </p:xfrm>
        <a:graphic>
          <a:graphicData uri="http://schemas.openxmlformats.org/drawingml/2006/table">
            <a:tbl>
              <a:tblPr firstRow="0" bandRow="0"/>
              <a:tblGrid>
                <a:gridCol w="1816639"/>
                <a:gridCol w="735482"/>
                <a:gridCol w="841125"/>
                <a:gridCol w="588110"/>
                <a:gridCol w="1055116"/>
                <a:gridCol w="1119752"/>
                <a:gridCol w="534493"/>
              </a:tblGrid>
              <a:tr h="329184"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업무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경영진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TF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bkit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브레인크루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컨설턴트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총괄·게이트 운영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변경 지도 확정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골든셋·판정 기준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A·R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시뮬레이터·HAL 개발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A·R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bkit 커스터마이징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에이전트 팀 설계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입력·지식베이스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아키텍처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교육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7F8FA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–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파일럿·배포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I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A·R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C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arrativeHeadline"/>
          <p:cNvSpPr txBox="1"/>
          <p:nvPr/>
        </p:nvSpPr>
        <p:spPr>
          <a:xfrm>
            <a:off x="859536" y="5463539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시뮬레이터·판정 기준·배포는 인텍 TF가 실행과 최종 책임을 모두 집니다.</a:t>
            </a:r>
          </a:p>
        </p:txBody>
      </p:sp>
      <p:sp>
        <p:nvSpPr>
          <p:cNvPr id="6" name="NarrativeDetail"/>
          <p:cNvSpPr txBox="1"/>
          <p:nvPr/>
        </p:nvSpPr>
        <p:spPr>
          <a:xfrm>
            <a:off x="859536" y="5756147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R 실행 · A 최종 책임 · C 협의 · I 공유. 외부 주체의 R은 모두 인텍 TF의 A 아래에 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12개월 안에 파일럿을 마치고 운영을 넘겨받습니다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1960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5276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98592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1908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5224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8540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6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5172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8488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61804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85120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8436" y="946403"/>
            <a:ext cx="623316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M12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1293875"/>
            <a:ext cx="11137392" cy="0"/>
          </a:xfrm>
          <a:prstGeom prst="line">
            <a:avLst/>
          </a:prstGeom>
          <a:ln w="9525">
            <a:solidFill>
              <a:srgbClr val="7F8F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1293875"/>
            <a:ext cx="132588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1" lang="ko-KR" altLang="en-US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인텍 TF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1293875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골든셋·L2 회귀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1357883"/>
            <a:ext cx="2438400" cy="182880"/>
          </a:xfrm>
          <a:prstGeom prst="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1604771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과거 업그레이드 재현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02708" y="1668779"/>
            <a:ext cx="1191768" cy="182880"/>
          </a:xfrm>
          <a:prstGeom prst="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1915667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HAL·L1 가상 호스트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26024" y="1979675"/>
            <a:ext cx="3061716" cy="182880"/>
          </a:xfrm>
          <a:prstGeom prst="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2226563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파일럿 2~3건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72656" y="2290571"/>
            <a:ext cx="1815084" cy="182880"/>
          </a:xfrm>
          <a:prstGeom prst="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2537459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확산·L3·반입 키트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19288" y="2601467"/>
            <a:ext cx="3685032" cy="182880"/>
          </a:xfrm>
          <a:prstGeom prst="rect">
            <a:avLst/>
          </a:prstGeom>
          <a:noFill/>
          <a:ln w="15875"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94360" y="2848355"/>
            <a:ext cx="1113739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2848355"/>
            <a:ext cx="132588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1" lang="ko-KR" altLang="en-US">
                <a:solidFill>
                  <a:srgbClr val="0F766E"/>
                </a:solidFill>
                <a:latin typeface="Pretendard"/>
                <a:ea typeface="Pretendard"/>
                <a:cs typeface="Pretendard"/>
              </a:rPr>
              <a:t>bkit 저자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48355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커스텀 v1·v2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02708" y="2912363"/>
            <a:ext cx="3061716" cy="182880"/>
          </a:xfrm>
          <a:prstGeom prst="rect">
            <a:avLst/>
          </a:prstGeom>
          <a:solidFill>
            <a:srgbClr val="0F766E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3159251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운영 지원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19288" y="3223259"/>
            <a:ext cx="3685032" cy="182880"/>
          </a:xfrm>
          <a:prstGeom prst="rect">
            <a:avLst/>
          </a:prstGeom>
          <a:solidFill>
            <a:srgbClr val="0F766E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94360" y="3470147"/>
            <a:ext cx="1113739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3470147"/>
            <a:ext cx="132588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1" lang="ko-KR" altLang="en-US">
                <a:solidFill>
                  <a:srgbClr val="7C3AED"/>
                </a:solidFill>
                <a:latin typeface="Pretendard"/>
                <a:ea typeface="Pretendard"/>
                <a:cs typeface="Pretendard"/>
              </a:rPr>
              <a:t>브레인크루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70147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PoC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2708" y="3534154"/>
            <a:ext cx="1191768" cy="182880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781042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구축·망분리 설치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9340" y="3845050"/>
            <a:ext cx="1815084" cy="182880"/>
          </a:xfrm>
          <a:prstGeom prst="rect">
            <a:avLst/>
          </a:prstGeom>
          <a:noFill/>
          <a:ln w="15875">
            <a:solidFill>
              <a:srgbClr val="7C3A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42604" y="3845050"/>
            <a:ext cx="1815084" cy="182880"/>
          </a:xfrm>
          <a:prstGeom prst="rect">
            <a:avLst/>
          </a:prstGeom>
          <a:noFill/>
          <a:ln w="15875">
            <a:solidFill>
              <a:srgbClr val="7C3A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594360" y="4091938"/>
            <a:ext cx="1113739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4091938"/>
            <a:ext cx="132588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AI 컨설턴트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091938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설계·교육·코칭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9392" y="4155946"/>
            <a:ext cx="3685032" cy="182880"/>
          </a:xfrm>
          <a:prstGeom prst="rect">
            <a:avLst/>
          </a:prstGeom>
          <a:solidFill>
            <a:srgbClr val="1B2A4A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20240" y="4402834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evolve·운영 이관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9288" y="4466842"/>
            <a:ext cx="3685032" cy="182880"/>
          </a:xfrm>
          <a:prstGeom prst="rect">
            <a:avLst/>
          </a:prstGeom>
          <a:solidFill>
            <a:srgbClr val="1B2A4A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594360" y="4713730"/>
            <a:ext cx="11137392" cy="0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4360" y="4713730"/>
            <a:ext cx="132588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1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PM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4713730"/>
            <a:ext cx="233172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총괄·규격·게이트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79392" y="4777738"/>
            <a:ext cx="7424927" cy="182880"/>
          </a:xfrm>
          <a:prstGeom prst="rect">
            <a:avLst/>
          </a:prstGeom>
          <a:solidFill>
            <a:srgbClr val="7F8FA9"/>
          </a:solidFill>
          <a:ln w="15875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94360" y="5024626"/>
            <a:ext cx="11137392" cy="0"/>
          </a:xfrm>
          <a:prstGeom prst="line">
            <a:avLst/>
          </a:prstGeom>
          <a:ln w="9525">
            <a:solidFill>
              <a:srgbClr val="7F8F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4360" y="5061202"/>
            <a:ext cx="3657600" cy="310896"/>
          </a:xfrm>
          <a:prstGeom prst="rect">
            <a:avLst/>
          </a:prstGeom>
          <a:noFill/>
        </p:spPr>
        <p:txBody>
          <a:bodyPr wrap="square" lIns="18288" rIns="18288" tIns="27432" bIns="27432" anchor="ctr">
            <a:noAutofit/>
          </a:bodyPr>
          <a:lstStyle/>
          <a:p>
            <a:pPr algn="l"/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게이트</a:t>
            </a:r>
          </a:p>
        </p:txBody>
      </p:sp>
      <p:sp>
        <p:nvSpPr>
          <p:cNvPr id="53" name="Diamond 52"/>
          <p:cNvSpPr/>
          <p:nvPr/>
        </p:nvSpPr>
        <p:spPr>
          <a:xfrm>
            <a:off x="4756404" y="5116066"/>
            <a:ext cx="201168" cy="201168"/>
          </a:xfrm>
          <a:prstGeom prst="diamond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9204" y="5079490"/>
            <a:ext cx="438912" cy="27432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/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G0</a:t>
            </a:r>
          </a:p>
        </p:txBody>
      </p:sp>
      <p:sp>
        <p:nvSpPr>
          <p:cNvPr id="55" name="Diamond 54"/>
          <p:cNvSpPr/>
          <p:nvPr/>
        </p:nvSpPr>
        <p:spPr>
          <a:xfrm>
            <a:off x="6003036" y="5116066"/>
            <a:ext cx="201168" cy="201168"/>
          </a:xfrm>
          <a:prstGeom prst="diamond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45836" y="5079490"/>
            <a:ext cx="438912" cy="27432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/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G1</a:t>
            </a:r>
          </a:p>
        </p:txBody>
      </p:sp>
      <p:sp>
        <p:nvSpPr>
          <p:cNvPr id="57" name="Diamond 56"/>
          <p:cNvSpPr/>
          <p:nvPr/>
        </p:nvSpPr>
        <p:spPr>
          <a:xfrm>
            <a:off x="7872983" y="5116066"/>
            <a:ext cx="201168" cy="201168"/>
          </a:xfrm>
          <a:prstGeom prst="diamond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15783" y="5079490"/>
            <a:ext cx="438912" cy="27432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/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G2</a:t>
            </a:r>
          </a:p>
        </p:txBody>
      </p:sp>
      <p:sp>
        <p:nvSpPr>
          <p:cNvPr id="59" name="Diamond 58"/>
          <p:cNvSpPr/>
          <p:nvPr/>
        </p:nvSpPr>
        <p:spPr>
          <a:xfrm>
            <a:off x="11612880" y="5116066"/>
            <a:ext cx="201168" cy="201168"/>
          </a:xfrm>
          <a:prstGeom prst="diamond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155680" y="5079490"/>
            <a:ext cx="438912" cy="27432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r"/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G3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4251960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75276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498592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121908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745224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368540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991856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615172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238488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61804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485120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108436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731752" y="1293875"/>
            <a:ext cx="0" cy="3730751"/>
          </a:xfrm>
          <a:prstGeom prst="line">
            <a:avLst/>
          </a:prstGeom>
          <a:ln w="6350">
            <a:solidFill>
              <a:srgbClr val="D9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94360" y="5481826"/>
            <a:ext cx="11137392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/>
            <a:r>
              <a:rPr sz="12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채운 막대: 확정 업무   ·   점선 막대: 조건부 업무   ·   ◆ 게이트(해당 월 말)</a:t>
            </a:r>
          </a:p>
        </p:txBody>
      </p:sp>
      <p:sp>
        <p:nvSpPr>
          <p:cNvPr id="75" name="NarrativeHeadline"/>
          <p:cNvSpPr txBox="1"/>
          <p:nvPr/>
        </p:nvSpPr>
        <p:spPr>
          <a:xfrm>
            <a:off x="859536" y="5993891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6개월 차(G2)에 실제 업그레이드 2~3건의 결과로 확산 여부를 판정합니다.</a:t>
            </a:r>
          </a:p>
        </p:txBody>
      </p:sp>
      <p:sp>
        <p:nvSpPr>
          <p:cNvPr id="76" name="NarrativeDetail"/>
          <p:cNvSpPr txBox="1"/>
          <p:nvPr/>
        </p:nvSpPr>
        <p:spPr>
          <a:xfrm>
            <a:off x="859536" y="6286499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M1은 2026년 11월 착수 가정이며, 조건부 업무는 앞 게이트 결과에 따라 진행합니다.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총 공수는 66~86 MM이며 약 2/3 이상이 내부입니다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49579" y="1458468"/>
          <a:ext cx="6030001" cy="3291840"/>
        </p:xfrm>
        <a:graphic>
          <a:graphicData uri="http://schemas.openxmlformats.org/drawingml/2006/table">
            <a:tbl>
              <a:tblPr firstRow="0" bandRow="0"/>
              <a:tblGrid>
                <a:gridCol w="2096566"/>
                <a:gridCol w="1394252"/>
                <a:gridCol w="1492940"/>
                <a:gridCol w="1046241"/>
              </a:tblGrid>
              <a:tr h="329184"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주체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인원·투입률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공수(MM)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시뮬레이터 전담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2명 · 100%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TF 리더·핵심 개발자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3명 · 40~60%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14~22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고객대응·품질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3명 · 20~50%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10~11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내부 소계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8명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ED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1B2A4A"/>
                          </a:solidFill>
                          <a:latin typeface="Pretendard"/>
                          <a:ea typeface="Pretendard"/>
                          <a:cs typeface="Pretendard"/>
                        </a:rPr>
                        <a:t>48~57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EDF3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bkit 저자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1~2명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M2~M6 + 지원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3~5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브레인크루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1~2명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PoC·구축·망분리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7~12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컨설턴트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1명 · 40~60%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5~7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 1~2일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2.5~5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/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en-US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66~86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</a:tr>
            </a:tbl>
          </a:graphicData>
        </a:graphic>
      </p:graphicFrame>
      <p:sp>
        <p:nvSpPr>
          <p:cNvPr id="5" name="NarrativeHeadline"/>
          <p:cNvSpPr txBox="1"/>
          <p:nvPr/>
        </p:nvSpPr>
        <p:spPr>
          <a:xfrm>
            <a:off x="859536" y="5116067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가장 큰 변수는 핵심 개발자의 실제 투입률입니다.</a:t>
            </a:r>
          </a:p>
        </p:txBody>
      </p:sp>
      <p:sp>
        <p:nvSpPr>
          <p:cNvPr id="6" name="NarrativeDetail"/>
          <p:cNvSpPr txBox="1"/>
          <p:nvPr/>
        </p:nvSpPr>
        <p:spPr>
          <a:xfrm>
            <a:off x="859536" y="5408675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외부 단가와 브레인크루 라이선스는 견적이 필요하며, 경영진 시간은 공수에서 제외했습니다.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94360" y="6419088"/>
            <a:ext cx="8229600" cy="201168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l"/>
            <a:r>
              <a:rPr sz="10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추정: 소스 진단 전 산정, 0단계 진단 후 재산정 (MM = 1명 1개월 전일 투입)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인텍 엔지니어가 AI로 일하게 만드는 네 과정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7836" y="2464308"/>
          <a:ext cx="10273487" cy="1645920"/>
        </p:xfrm>
        <a:graphic>
          <a:graphicData uri="http://schemas.openxmlformats.org/drawingml/2006/table">
            <a:tbl>
              <a:tblPr firstRow="0" bandRow="0"/>
              <a:tblGrid>
                <a:gridCol w="1262440"/>
                <a:gridCol w="2108825"/>
                <a:gridCol w="1887261"/>
                <a:gridCol w="2143496"/>
                <a:gridCol w="2871463"/>
              </a:tblGrid>
              <a:tr h="329184"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과정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방식·시기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강사·코치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 기초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SW 엔지니어 전원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2일 · M2~M3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컨설턴트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코딩 도구, 변경 지도, 데이터 규칙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B 하네스 실습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TF 8명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 1일×6주 · M2~M4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PM·bkit 저자·AI 컨설턴트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PRD 작성, bkit·에이전트 운영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C 시뮬레이터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시뮬레이터팀·핵심 개발자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 1회 코칭 · M2~M7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컨설턴트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B45309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AI로 레거시 분석·HAL·시나리오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4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D 챔피언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TF 중 2명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인수 · M7~M12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컨설턴트·bkit 저자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evolve·유지보수·신규 교육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arrativeHeadline"/>
          <p:cNvSpPr txBox="1"/>
          <p:nvPr/>
        </p:nvSpPr>
        <p:spPr>
          <a:xfrm>
            <a:off x="859536" y="4475987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이 프로젝트의 결과물은 시스템과 함께 AI로 일할 줄 아는 내부 엔지니어입니다.</a:t>
            </a:r>
          </a:p>
        </p:txBody>
      </p:sp>
      <p:sp>
        <p:nvSpPr>
          <p:cNvPr id="6" name="NarrativeDetail"/>
          <p:cNvSpPr txBox="1"/>
          <p:nvPr/>
        </p:nvSpPr>
        <p:spPr>
          <a:xfrm>
            <a:off x="859536" y="4768595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시뮬레이터 과정(C)은 실제 개발에 붙여 코칭하고, 챔피언 과정(D)으로 운영을 내부에 넘깁니다.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네 번의 게이트에서 진행 여부를 판정합니다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212848"/>
            <a:ext cx="2606040" cy="214884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G0 · M1 말</a:t>
            </a:r>
          </a:p>
          <a:p>
            <a:pPr algn="l">
              <a:spcAft>
                <a:spcPts val="3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착수 조건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TF 8명 확정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파일럿 고객 확정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외부 계약 합의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판정: 대표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3438144" y="2212848"/>
            <a:ext cx="2606040" cy="214884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G1 · M3 말</a:t>
            </a:r>
          </a:p>
          <a:p>
            <a:pPr algn="l">
              <a:spcAft>
                <a:spcPts val="3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기반 확인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L2 회귀 동작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과거 업그레이드 재현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브레인크루 PoC 판정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판정: 대표·PM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1928" y="2212848"/>
            <a:ext cx="2606040" cy="214884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G2 · M6 말</a:t>
            </a:r>
          </a:p>
          <a:p>
            <a:pPr algn="l">
              <a:spcAft>
                <a:spcPts val="3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파일럿 효과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실제 2~3건 완료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현장 시간·결함 비교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1회 합격률 측정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판정: 대표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9125712" y="2212848"/>
            <a:ext cx="2606040" cy="214884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G3 · M12 말</a:t>
            </a:r>
          </a:p>
          <a:p>
            <a:pPr algn="l">
              <a:spcAft>
                <a:spcPts val="3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확산과 이관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주요 고객 확대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내부 단독 운영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• 차년도 범위</a:t>
            </a:r>
          </a:p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판정: 대표</a:t>
            </a:r>
          </a:p>
        </p:txBody>
      </p:sp>
      <p:sp>
        <p:nvSpPr>
          <p:cNvPr id="8" name="NarrativeHeadline"/>
          <p:cNvSpPr txBox="1"/>
          <p:nvPr/>
        </p:nvSpPr>
        <p:spPr>
          <a:xfrm>
            <a:off x="859536" y="4727448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G1에서 AI 자동화 범위와 브레인크루 구축 여부를 결정합니다.</a:t>
            </a:r>
          </a:p>
        </p:txBody>
      </p:sp>
      <p:sp>
        <p:nvSpPr>
          <p:cNvPr id="9" name="NarrativeDetail"/>
          <p:cNvSpPr txBox="1"/>
          <p:nvPr/>
        </p:nvSpPr>
        <p:spPr>
          <a:xfrm>
            <a:off x="859536" y="5020056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목표 수치는 0단계에서 현장 체류 시간 등 기준선을 측정한 뒤 G1에서 정합니다.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주요 리스크 다섯 가지와 대응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78037" y="2299715"/>
          <a:ext cx="7373086" cy="1975104"/>
        </p:xfrm>
        <a:graphic>
          <a:graphicData uri="http://schemas.openxmlformats.org/drawingml/2006/table">
            <a:tbl>
              <a:tblPr firstRow="0" bandRow="0"/>
              <a:tblGrid>
                <a:gridCol w="2184482"/>
                <a:gridCol w="4350532"/>
                <a:gridCol w="838071"/>
              </a:tblGrid>
              <a:tr h="329184"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대응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책임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355C7D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개발자 시간 확보 실패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355C7D"/>
                          </a:solidFill>
                          <a:latin typeface="Pretendard"/>
                          <a:ea typeface="Pretendard"/>
                          <a:cs typeface="Pretendard"/>
                        </a:rPr>
                        <a:t>G0에서 투입률 문서화, 기존 고객 대응 일부를 이관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1" lang="ko-KR" altLang="en-US">
                          <a:solidFill>
                            <a:srgbClr val="355C7D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경영진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골든 이미지 확보 지연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등급 낮은 고객으로 파일럿, 자체 시료 이미지로 시작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TF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bkit 저자 참여 불가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컨설턴트가 포크·커스터마이징 대행 (+4~6주)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브레인크루 PoC 불합격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코딩 도구로 문서 입력 + 사람 검토, 등급 C는 3단계에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en-US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PM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HAL 도입 난이도 높음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L2(검사 엔진 단독)로 가치 먼저, HAL 범위 축소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Pretendard"/>
                          <a:ea typeface="Pretendard"/>
                          <a:cs typeface="Pretendard"/>
                        </a:defRPr>
                      </a:pPr>
                      <a:r>
                        <a:rPr sz="1400" b="0" lang="ko-KR" altLang="en-US">
                          <a:solidFill>
                            <a:srgbClr val="2C3E5A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인텍 TF</a:t>
                      </a:r>
                      <a:endParaRPr sz="140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7F8FA9"/>
                      </a:solidFill>
                      <a:prstDash val="solid"/>
                    </a:lnL>
                    <a:lnR w="6350" cap="flat" cmpd="sng" algn="ctr">
                      <a:solidFill>
                        <a:srgbClr val="7F8FA9"/>
                      </a:solidFill>
                      <a:prstDash val="solid"/>
                    </a:lnR>
                    <a:lnT w="6350" cap="flat" cmpd="sng" algn="ctr">
                      <a:solidFill>
                        <a:srgbClr val="7F8FA9"/>
                      </a:solidFill>
                      <a:prstDash val="solid"/>
                    </a:lnT>
                    <a:lnB w="6350" cap="flat" cmpd="sng" algn="ctr">
                      <a:solidFill>
                        <a:srgbClr val="7F8FA9"/>
                      </a:solidFill>
                      <a:prstDash val="soli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5" name="NarrativeHeadline"/>
          <p:cNvSpPr txBox="1"/>
          <p:nvPr/>
        </p:nvSpPr>
        <p:spPr>
          <a:xfrm>
            <a:off x="859536" y="4640579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외부 주체가 빠져도 진행되도록 대안 경로를 미리 정했습니다.</a:t>
            </a:r>
          </a:p>
        </p:txBody>
      </p:sp>
      <p:sp>
        <p:nvSpPr>
          <p:cNvPr id="6" name="NarrativeDetail"/>
          <p:cNvSpPr txBox="1"/>
          <p:nvPr/>
        </p:nvSpPr>
        <p:spPr>
          <a:xfrm>
            <a:off x="859536" y="4933187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가장 큰 리스크는 내부 인력이며, 이것만은 대안이 아니라 착수 전 결정으로 막아야 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6E5BA9-3455-A4EC-A5CD-AC84A9746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>
            <a:noAutofit/>
          </a:bodyPr>
          <a:lstStyle/>
          <a:p>
            <a:fld id="{92D748C5-3DDC-4F9D-98BF-DAAE0B16E7B0}" type="slidenum">
              <a:rPr lang="ko-KR" altLang="en-US" sz="800" smtClean="0">
                <a:latin typeface="Pretendard"/>
                <a:ea typeface="Pretendard"/>
              </a:rPr>
              <a:pPr/>
              <a:t>3</a:t>
            </a:fld>
            <a:endParaRPr lang="ko-KR" altLang="en-US" sz="800" dirty="0">
              <a:latin typeface="Pretendard"/>
              <a:ea typeface="Pretendard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1706727" y="201168"/>
            <a:ext cx="877824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2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승인 후 4주 안에 착수 조건(G0)을 판정합니다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2487168"/>
            <a:ext cx="2395728" cy="160020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3A86FF"/>
                </a:solidFill>
                <a:latin typeface="Pretendard"/>
                <a:ea typeface="Pretendard"/>
                <a:cs typeface="Pretendard"/>
              </a:rPr>
              <a:t>1주차</a:t>
            </a:r>
          </a:p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대표 보고·승인</a:t>
            </a:r>
          </a:p>
          <a:p>
            <a:pPr algn="ctr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TF 구성안 확정</a:t>
            </a:r>
          </a:p>
          <a:p>
            <a:pPr algn="ctr">
              <a:spcAft>
                <a:spcPts val="3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PM · 경영진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54096" y="3287268"/>
            <a:ext cx="402336" cy="0"/>
          </a:xfrm>
          <a:prstGeom prst="line">
            <a:avLst/>
          </a:prstGeom>
          <a:ln w="1905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11296" y="2487168"/>
            <a:ext cx="2395728" cy="160020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3A86FF"/>
                </a:solidFill>
                <a:latin typeface="Pretendard"/>
                <a:ea typeface="Pretendard"/>
                <a:cs typeface="Pretendard"/>
              </a:rPr>
              <a:t>2주차</a:t>
            </a:r>
          </a:p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외부 3주체 협의</a:t>
            </a:r>
          </a:p>
          <a:p>
            <a:pPr algn="ctr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범위·견적·참여 확인</a:t>
            </a:r>
          </a:p>
          <a:p>
            <a:pPr algn="ctr">
              <a:spcAft>
                <a:spcPts val="3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PM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61888" y="3287268"/>
            <a:ext cx="402336" cy="0"/>
          </a:xfrm>
          <a:prstGeom prst="line">
            <a:avLst/>
          </a:prstGeom>
          <a:ln w="1905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19088" y="2487168"/>
            <a:ext cx="2395728" cy="1600200"/>
          </a:xfrm>
          <a:prstGeom prst="rect">
            <a:avLst/>
          </a:prstGeom>
          <a:solidFill>
            <a:srgbClr val="F5F5F7"/>
          </a:solidFill>
          <a:ln w="12700">
            <a:solidFill>
              <a:srgbClr val="7F8F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3A86FF"/>
                </a:solidFill>
                <a:latin typeface="Pretendard"/>
                <a:ea typeface="Pretendard"/>
                <a:cs typeface="Pretendard"/>
              </a:rPr>
              <a:t>3주차</a:t>
            </a:r>
          </a:p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변경 지도 워크숍</a:t>
            </a:r>
          </a:p>
          <a:p>
            <a:pPr algn="ctr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제품군별 범위 확정</a:t>
            </a:r>
          </a:p>
          <a:p>
            <a:pPr algn="ctr">
              <a:spcAft>
                <a:spcPts val="3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PM · 핵심 개발자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869680" y="3287268"/>
            <a:ext cx="402336" cy="0"/>
          </a:xfrm>
          <a:prstGeom prst="line">
            <a:avLst/>
          </a:prstGeom>
          <a:ln w="19050">
            <a:solidFill>
              <a:srgbClr val="1B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326880" y="2487168"/>
            <a:ext cx="2395728" cy="1600200"/>
          </a:xfrm>
          <a:prstGeom prst="rect">
            <a:avLst/>
          </a:prstGeom>
          <a:solidFill>
            <a:srgbClr val="FFF4E8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B45309"/>
                </a:solidFill>
                <a:latin typeface="Pretendard"/>
                <a:ea typeface="Pretendard"/>
                <a:cs typeface="Pretendard"/>
              </a:rPr>
              <a:t>4주차</a:t>
            </a:r>
          </a:p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킥오프 · G0</a:t>
            </a:r>
          </a:p>
          <a:p>
            <a:pPr algn="ctr">
              <a:spcAft>
                <a:spcPts val="300"/>
              </a:spcAft>
            </a:pPr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파일럿 고객·골든 데이터</a:t>
            </a:r>
          </a:p>
          <a:p>
            <a:pPr algn="ctr">
              <a:spcAft>
                <a:spcPts val="300"/>
              </a:spcAft>
            </a:pPr>
            <a:r>
              <a:rPr sz="1400" b="0" lang="ko-KR" altLang="en-US">
                <a:solidFill>
                  <a:srgbClr val="7F8FA9"/>
                </a:solidFill>
                <a:latin typeface="Pretendard"/>
                <a:ea typeface="Pretendard"/>
                <a:cs typeface="Pretendard"/>
              </a:rPr>
              <a:t>경영진 · 인텍 TF</a:t>
            </a:r>
          </a:p>
        </p:txBody>
      </p:sp>
      <p:sp>
        <p:nvSpPr>
          <p:cNvPr id="11" name="NarrativeHeadline"/>
          <p:cNvSpPr txBox="1"/>
          <p:nvPr/>
        </p:nvSpPr>
        <p:spPr>
          <a:xfrm>
            <a:off x="859536" y="4453128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1" lang="ko-KR" altLang="en-US">
                <a:solidFill>
                  <a:srgbClr val="1B2A4A"/>
                </a:solidFill>
                <a:latin typeface="Pretendard"/>
                <a:ea typeface="Pretendard"/>
                <a:cs typeface="Pretendard"/>
              </a:rPr>
              <a:t>오늘 결정이 필요한 것은 인력, 파일럿 고객, 외부 계약 범위 세 가지입니다.</a:t>
            </a:r>
          </a:p>
        </p:txBody>
      </p:sp>
      <p:sp>
        <p:nvSpPr>
          <p:cNvPr id="12" name="NarrativeDetail"/>
          <p:cNvSpPr txBox="1"/>
          <p:nvPr/>
        </p:nvSpPr>
        <p:spPr>
          <a:xfrm>
            <a:off x="859536" y="4745736"/>
            <a:ext cx="10607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/>
            <a:r>
              <a:rPr sz="1400" b="0" lang="ko-KR" altLang="en-US">
                <a:solidFill>
                  <a:srgbClr val="2C3E5A"/>
                </a:solidFill>
                <a:latin typeface="Pretendard"/>
                <a:ea typeface="Pretendard"/>
                <a:cs typeface="Pretendard"/>
              </a:rPr>
              <a:t>승인해 주시면 다음 주에 TF 구성안과 외부 주체 협의 일정을 보고드리겠습니다.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7C0CA32-F521-6628-B3D1-BF237B98F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D748C5-3DDC-4F9D-98BF-DAAE0B16E7B0}" type="slidenum">
              <a:rPr lang="ko-KR" altLang="en-US" smtClean="0">
                <a:latin typeface="Pretendard"/>
                <a:ea typeface="Pretendard"/>
              </a:rPr>
              <a:pPr/>
              <a:t>7</a:t>
            </a:fld>
            <a:endParaRPr lang="ko-KR" altLang="en-US" sz="800">
              <a:latin typeface="Pretendard"/>
              <a:ea typeface="Pretendar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B9C14-1A6A-4E25-BFAB-651DDF12A217}"/>
              </a:ext>
            </a:extLst>
          </p:cNvPr>
          <p:cNvSpPr txBox="1"/>
          <p:nvPr/>
        </p:nvSpPr>
        <p:spPr>
          <a:xfrm>
            <a:off x="1524000" y="2032000"/>
            <a:ext cx="914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600" b="1">
                <a:solidFill>
                  <a:srgbClr val="1B2A4A"/>
                </a:solidFill>
                <a:latin typeface="Pretendard"/>
                <a:ea typeface="Pretendard"/>
              </a:rPr>
              <a:t>Thank You</a:t>
            </a:r>
            <a:endParaRPr lang="ko-KR" altLang="en-US" sz="3600" b="1">
              <a:solidFill>
                <a:srgbClr val="1B2A4A"/>
              </a:solidFill>
              <a:latin typeface="Pretendard"/>
              <a:ea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D05F8-5EFC-48BA-B8C3-2627EB94E4A7}"/>
              </a:ext>
            </a:extLst>
          </p:cNvPr>
          <p:cNvSpPr txBox="1"/>
          <p:nvPr/>
        </p:nvSpPr>
        <p:spPr>
          <a:xfrm>
            <a:off x="1524000" y="2921000"/>
            <a:ext cx="914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>
                <a:solidFill>
                  <a:srgbClr val="3A86FF"/>
                </a:solidFill>
                <a:latin typeface="Pretendard"/>
                <a:ea typeface="Pretendard"/>
              </a:rPr>
              <a:t>Q &amp; A</a:t>
            </a:r>
            <a:endParaRPr lang="ko-KR" altLang="en-US" sz="2800">
              <a:solidFill>
                <a:srgbClr val="3A86FF"/>
              </a:solidFill>
              <a:latin typeface="Pretendard"/>
              <a:ea typeface="Prete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7F106-7B7A-4E9A-B9F6-9A657D3F7F5B}"/>
              </a:ext>
            </a:extLst>
          </p:cNvPr>
          <p:cNvSpPr txBox="1"/>
          <p:nvPr/>
        </p:nvSpPr>
        <p:spPr>
          <a:xfrm>
            <a:off x="1524000" y="4064000"/>
            <a:ext cx="9144000" cy="116955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7F8FA9"/>
                </a:solidFill>
                <a:latin typeface="Pretendard"/>
                <a:ea typeface="Pretendard"/>
              </a:rPr>
              <a:t>장동인 </a:t>
            </a:r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| KAIST AI </a:t>
            </a:r>
            <a:r>
              <a:rPr lang="ko-KR" altLang="en-US" sz="1400">
                <a:solidFill>
                  <a:srgbClr val="7F8FA9"/>
                </a:solidFill>
                <a:latin typeface="Pretendard"/>
                <a:ea typeface="Pretendard"/>
              </a:rPr>
              <a:t>대학원 책임교수 </a:t>
            </a:r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/ AIBB LAB </a:t>
            </a:r>
            <a:r>
              <a:rPr lang="ko-KR" altLang="en-US" sz="1400">
                <a:solidFill>
                  <a:srgbClr val="7F8FA9"/>
                </a:solidFill>
                <a:latin typeface="Pretendard"/>
                <a:ea typeface="Pretendard"/>
              </a:rPr>
              <a:t>대표</a:t>
            </a:r>
            <a:endParaRPr lang="en-US" altLang="ko-KR" sz="1400">
              <a:solidFill>
                <a:srgbClr val="7F8FA9"/>
              </a:solidFill>
              <a:latin typeface="Pretendard"/>
              <a:ea typeface="Pretendard"/>
            </a:endParaRPr>
          </a:p>
          <a:p>
            <a:pPr algn="l"/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010-5259-9509</a:t>
            </a:r>
          </a:p>
          <a:p>
            <a:pPr algn="l"/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donchang@kaist.ac.kr</a:t>
            </a:r>
            <a:r>
              <a:rPr lang="ko-KR" altLang="en-US" sz="1400">
                <a:solidFill>
                  <a:srgbClr val="7F8FA9"/>
                </a:solidFill>
                <a:latin typeface="Pretendard"/>
                <a:ea typeface="Pretendard"/>
              </a:rPr>
              <a:t>
</a:t>
            </a:r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  <a:hlinkClick r:id="rId2"/>
              </a:rPr>
              <a:t>donchang0725@gmail.com</a:t>
            </a:r>
            <a:endParaRPr lang="en-US" altLang="ko-KR" sz="1400">
              <a:solidFill>
                <a:srgbClr val="7F8FA9"/>
              </a:solidFill>
              <a:latin typeface="Pretendard"/>
              <a:ea typeface="Pretendard"/>
            </a:endParaRPr>
          </a:p>
          <a:p>
            <a:pPr algn="l"/>
            <a:r>
              <a:rPr lang="en-US" altLang="ko-KR" sz="1400">
                <a:solidFill>
                  <a:srgbClr val="7F8FA9"/>
                </a:solidFill>
                <a:latin typeface="Pretendard"/>
                <a:ea typeface="Pretendard"/>
              </a:rPr>
              <a:t>https://ai4ceo.app</a:t>
            </a:r>
            <a:endParaRPr lang="ko-KR" altLang="en-US" sz="1400">
              <a:solidFill>
                <a:srgbClr val="7F8FA9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3730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88833800516]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모던 테크">
      <a:majorFont>
        <a:latin typeface="Pretendard" panose="0211000402020202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405A54-4181-46A8-9FB7-561A6204D55C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  <we:property name="claude.fileId" value="&quot;c39d3b2b-d861-4a31-b8af-2eba7f857ee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44807</TotalTime>
  <Words>689</Words>
  <Application>Microsoft Office PowerPoint</Application>
  <PresentationFormat>와이드스크린</PresentationFormat>
  <Paragraphs>126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Pretendard</vt:lpstr>
      <vt:lpstr>맑은 고딕</vt:lpstr>
      <vt:lpstr>Arial</vt:lpstr>
      <vt:lpstr>Wingdings</vt:lpstr>
      <vt:lpstr>Office 테마 [1788833800516]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chang don</dc:creator>
  <cp:lastModifiedBy>CHANG DON</cp:lastModifiedBy>
  <cp:revision>947</cp:revision>
  <cp:lastPrinted>2025-02-10T02:52:20Z</cp:lastPrinted>
  <dcterms:created xsi:type="dcterms:W3CDTF">2020-07-31T12:59:17Z</dcterms:created>
  <dcterms:modified xsi:type="dcterms:W3CDTF">2026-10-06T09:44:18Z</dcterms:modified>
</cp:coreProperties>
</file>